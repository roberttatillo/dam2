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Proxima Nova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4E5105-9BE9-464E-A85E-C2BA40F30B80}">
  <a:tblStyle styleId="{564E5105-9BE9-464E-A85E-C2BA40F30B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roximaNova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italic.fntdata"/><Relationship Id="rId14" Type="http://schemas.openxmlformats.org/officeDocument/2006/relationships/slide" Target="slides/slide8.xml"/><Relationship Id="rId36" Type="http://schemas.openxmlformats.org/officeDocument/2006/relationships/font" Target="fonts/ProximaNov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roximaNova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99b5767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999b5767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99b5767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99b5767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ece1a26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9ece1a2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9ece1a26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9ece1a26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ece1a26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9ece1a26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ece1a26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ece1a26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9ece1a26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9ece1a26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ece1a26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ece1a26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ece1a26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ece1a26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9ece1a26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9ece1a26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9ece1a268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9ece1a26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ece1a268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9ece1a268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ece1a26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9ece1a26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9ece1a268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9ece1a26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9ece1a268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9ece1a268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ece1a268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9ece1a268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9ece1a268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9ece1a268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9ece1a268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9ece1a268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9ece1a268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9ece1a26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9ece1a268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9ece1a268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9ece1a268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9ece1a268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9ece1a268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9ece1a268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ece1a268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9ece1a268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9ece1a268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9ece1a268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9ece1a268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9ece1a268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9ece1a268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9ece1a268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9ece1a268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9ece1a268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1.1. Introducci</a:t>
            </a:r>
            <a:r>
              <a:rPr lang="es"/>
              <a:t>ón a C#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17015" l="17968" r="19707" t="16496"/>
          <a:stretch/>
        </p:blipFill>
        <p:spPr>
          <a:xfrm>
            <a:off x="7114375" y="3034760"/>
            <a:ext cx="1929900" cy="205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947475"/>
            <a:ext cx="4260300" cy="41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Tipos de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Declaración de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Valor por defecto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Constantes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Casting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Conversión de texto a número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Generar número aleatorio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Operadores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Aritméticas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Comparación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Comparación de cadenas de texto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Lógicos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Clase Math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4572000" y="1017725"/>
            <a:ext cx="4539600" cy="1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Operador lambda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Recibir parámetros opcionales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Condicionales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Bucles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Arrays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el lenguaje principal en Windows y parte principal en las herramientas Visual Studio y .NET.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 crear aplicaciones de escritorio, web, móviles y videojuegos.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Su sintaxis es parecida a C, C++ o Java.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100% orientada a objetos.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tipo de variable en C# depende del contenedor, similar a Java, no del contenido (como Python).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29086" l="12221" r="12574" t="29086"/>
          <a:stretch/>
        </p:blipFill>
        <p:spPr>
          <a:xfrm>
            <a:off x="2637850" y="2158525"/>
            <a:ext cx="3868300" cy="21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variables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Solo existen 3 tipos primitivos: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Enteros: 0, -3, 33,...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Reales: 0.0, 4.56, Pi,...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Booleans: true y false.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Hay diferentes variantes de estos: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variables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113" y="1017725"/>
            <a:ext cx="7227775" cy="39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variables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indicamos una variable como n.0 este va a ser un double no un float.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Strings van entre doble comillas (“”) y los char van entre comillas simples (‘’).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625" y="1796775"/>
            <a:ext cx="3936750" cy="4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725" y="3310925"/>
            <a:ext cx="2910550" cy="12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variables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Al inicializar una variable de tipo float tenemos que usar el suf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975" y="1790525"/>
            <a:ext cx="2708061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Declaraci</a:t>
            </a:r>
            <a:r>
              <a:rPr lang="es"/>
              <a:t>ón de variables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declarar una variable, indicamos el tipo de dato que almacenará, seguido del nombre de la variable.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declarar múltiples variables en la misma fila si son del mismo tipo.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113" y="2677481"/>
            <a:ext cx="3251775" cy="16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 por defecto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veces no se inicializan variables y estas adoptan su valor por defecto: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Variables num</a:t>
            </a:r>
            <a:r>
              <a:rPr lang="es"/>
              <a:t>éricas: 0, 0.0, 0.0F,...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String: null.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char: null.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Boolean: false.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Cualquier otro objeto: null.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Constantes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crear variables cuyo valor no podr</a:t>
            </a:r>
            <a:r>
              <a:rPr lang="es"/>
              <a:t>á cambiar una vez inicializadas al declararlas </a:t>
            </a:r>
            <a:r>
              <a:rPr b="1" lang="es"/>
              <a:t>constantes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crearla tenemos que añadir la palabra reservada </a:t>
            </a:r>
            <a:r>
              <a:rPr b="1" lang="es"/>
              <a:t>const</a:t>
            </a:r>
            <a:r>
              <a:rPr lang="es"/>
              <a:t> justo antes del tipo de dato.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763" y="2709525"/>
            <a:ext cx="3472484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Casting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realizar conversiones de valores almacenados en unas variables a otras variables de diferente tipo mediante el casting.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Esto se realiza indicando el tipo de la variable justo despu</a:t>
            </a:r>
            <a:r>
              <a:rPr lang="es"/>
              <a:t>és del símbolo de igualdad.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parte de después de la coma se pierde.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700" y="2571750"/>
            <a:ext cx="4348600" cy="8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Conversi</a:t>
            </a:r>
            <a:r>
              <a:rPr lang="es"/>
              <a:t>ón de texto a número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convertir texto a n</a:t>
            </a:r>
            <a:r>
              <a:rPr lang="es"/>
              <a:t>úmero con la ayuda del método </a:t>
            </a:r>
            <a:r>
              <a:rPr b="1" lang="es"/>
              <a:t>Parse(string v)</a:t>
            </a:r>
            <a:r>
              <a:rPr lang="es"/>
              <a:t>.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b="0" l="5339" r="0" t="0"/>
          <a:stretch/>
        </p:blipFill>
        <p:spPr>
          <a:xfrm>
            <a:off x="2331337" y="2285925"/>
            <a:ext cx="4481325" cy="14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Generar n</a:t>
            </a:r>
            <a:r>
              <a:rPr lang="es"/>
              <a:t>úmero aleatorio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13" y="1347325"/>
            <a:ext cx="8641176" cy="24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</a:t>
            </a:r>
            <a:r>
              <a:rPr lang="es"/>
              <a:t>ímbolo o palabra clave que indica al compilador o intérprete que realice acciones específicas.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Tenemos las siguientes: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Matemáticas.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Logicas.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 asignación.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Son fundamentales para construir expresiones y manipular información.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Aritm</a:t>
            </a:r>
            <a:r>
              <a:rPr lang="es"/>
              <a:t>éticas</a:t>
            </a:r>
            <a:endParaRPr/>
          </a:p>
        </p:txBody>
      </p:sp>
      <p:graphicFrame>
        <p:nvGraphicFramePr>
          <p:cNvPr id="159" name="Google Shape;159;p28"/>
          <p:cNvGraphicFramePr/>
          <p:nvPr/>
        </p:nvGraphicFramePr>
        <p:xfrm>
          <a:off x="2402200" y="92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{564E5105-9BE9-464E-A85E-C2BA40F30B80}</a:tableStyleId>
              </a:tblPr>
              <a:tblGrid>
                <a:gridCol w="2169800"/>
                <a:gridCol w="2169800"/>
              </a:tblGrid>
              <a:tr h="38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Funci</a:t>
                      </a:r>
                      <a:r>
                        <a:rPr b="1" lang="es"/>
                        <a:t>ón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S</a:t>
                      </a:r>
                      <a:r>
                        <a:rPr b="1" lang="es"/>
                        <a:t>ímbolo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Suma / Concatenaci</a:t>
                      </a:r>
                      <a:r>
                        <a:rPr lang="es"/>
                        <a:t>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Aumento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++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Incremento 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+=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Decremento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 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Decremento en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Multiplicacaci</a:t>
                      </a:r>
                      <a:r>
                        <a:rPr lang="es"/>
                        <a:t>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Divisi</a:t>
                      </a:r>
                      <a:r>
                        <a:rPr lang="es"/>
                        <a:t>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/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Resto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</a:t>
            </a:r>
            <a:r>
              <a:rPr lang="es"/>
              <a:t>ón</a:t>
            </a:r>
            <a:endParaRPr/>
          </a:p>
        </p:txBody>
      </p:sp>
      <p:graphicFrame>
        <p:nvGraphicFramePr>
          <p:cNvPr id="165" name="Google Shape;165;p29"/>
          <p:cNvGraphicFramePr/>
          <p:nvPr/>
        </p:nvGraphicFramePr>
        <p:xfrm>
          <a:off x="2402200" y="156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{564E5105-9BE9-464E-A85E-C2BA40F30B80}</a:tableStyleId>
              </a:tblPr>
              <a:tblGrid>
                <a:gridCol w="2169800"/>
                <a:gridCol w="2169800"/>
              </a:tblGrid>
              <a:tr h="38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Función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Símbolo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Igual 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==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Menor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&lt;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Menor o igual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&lt;=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Mayor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&gt;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Mayor o igual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&gt;=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Diferente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!=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</a:t>
            </a:r>
            <a:r>
              <a:rPr lang="es"/>
              <a:t>ón de cadenas de texto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comparamos string con == puede darnos problemas, por ello es recomendable usar el m</a:t>
            </a:r>
            <a:r>
              <a:rPr lang="es"/>
              <a:t>étodo </a:t>
            </a:r>
            <a:r>
              <a:rPr b="1" lang="es"/>
              <a:t>Compare</a:t>
            </a:r>
            <a:r>
              <a:rPr lang="es"/>
              <a:t> de la clase String.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igual al </a:t>
            </a:r>
            <a:r>
              <a:rPr b="1" lang="es"/>
              <a:t>equals()</a:t>
            </a:r>
            <a:r>
              <a:rPr lang="es"/>
              <a:t> de Java.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Devuelve 0 si son iguales y != si no lo son.</a:t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358" y="2934125"/>
            <a:ext cx="5867300" cy="11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</a:t>
            </a:r>
            <a:r>
              <a:rPr lang="es"/>
              <a:t>ógicos</a:t>
            </a:r>
            <a:endParaRPr/>
          </a:p>
        </p:txBody>
      </p:sp>
      <p:graphicFrame>
        <p:nvGraphicFramePr>
          <p:cNvPr id="178" name="Google Shape;178;p31"/>
          <p:cNvGraphicFramePr/>
          <p:nvPr/>
        </p:nvGraphicFramePr>
        <p:xfrm>
          <a:off x="2402200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{564E5105-9BE9-464E-A85E-C2BA40F30B80}</a:tableStyleId>
              </a:tblPr>
              <a:tblGrid>
                <a:gridCol w="2169800"/>
                <a:gridCol w="2169800"/>
              </a:tblGrid>
              <a:tr h="38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Función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Símbolo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Math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clase Math nos ofrece m</a:t>
            </a:r>
            <a:r>
              <a:rPr lang="es"/>
              <a:t>étodos para realizar ciertas operaciones: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Pow(double base, double exponente): Eleva el primer parámetro al segundo parámetro.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Sqrt(double x): Devuelve la raíz cuadrada.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Round(double x): Devuelve el redondeo (int) de un double.</a:t>
            </a:r>
            <a:endParaRPr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5863" y="2397100"/>
            <a:ext cx="3972275" cy="24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étodos</a:t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m</a:t>
            </a:r>
            <a:r>
              <a:rPr lang="es"/>
              <a:t>étodo (píldora) puede recibir muchos parámetros pero sólo puede devolver uno o ninguno.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sintaxis es la siguiente: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464100" y="2792575"/>
            <a:ext cx="41523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tipoDevuelto nombre(par</a:t>
            </a:r>
            <a:r>
              <a:rPr lang="es"/>
              <a:t>ámetros</a:t>
            </a:r>
            <a:r>
              <a:rPr lang="es"/>
              <a:t>){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c</a:t>
            </a:r>
            <a:r>
              <a:rPr lang="es"/>
              <a:t>ódigo;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}</a:t>
            </a:r>
            <a:endParaRPr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250" y="2842310"/>
            <a:ext cx="3598600" cy="13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 lambda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el método que vamos a construir sólo contiene una línea en su interior y esta es una instrucción return, no es necesario indicar los corchetes.</a:t>
            </a:r>
            <a:endParaRPr/>
          </a:p>
        </p:txBody>
      </p:sp>
      <p:pic>
        <p:nvPicPr>
          <p:cNvPr id="200" name="Google Shape;2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363" y="2625300"/>
            <a:ext cx="7285275" cy="6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Condicionales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1388575" y="1380000"/>
            <a:ext cx="2156400" cy="23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if (condici</a:t>
            </a:r>
            <a:r>
              <a:rPr lang="es"/>
              <a:t>ón</a:t>
            </a:r>
            <a:r>
              <a:rPr lang="es"/>
              <a:t>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</a:t>
            </a:r>
            <a:r>
              <a:rPr lang="es"/>
              <a:t>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}else if (condición){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}else{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4938725" y="934200"/>
            <a:ext cx="2156400" cy="32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switch (variable){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case valor1: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	c</a:t>
            </a:r>
            <a:r>
              <a:rPr lang="es"/>
              <a:t>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	break;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default: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	código;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	break;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Condicionales</a:t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33575"/>
            <a:ext cx="41719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6375" y="698763"/>
            <a:ext cx="2923900" cy="37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Recibir par</a:t>
            </a:r>
            <a:r>
              <a:rPr lang="es"/>
              <a:t>ámetros opcionales</a:t>
            </a:r>
            <a:endParaRPr/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recibir par</a:t>
            </a:r>
            <a:r>
              <a:rPr lang="es"/>
              <a:t>ámetros que son opcionales.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 que hay que hacer es inicializarlo por si no nos lo pasan.</a:t>
            </a:r>
            <a:endParaRPr/>
          </a:p>
        </p:txBody>
      </p:sp>
      <p:pic>
        <p:nvPicPr>
          <p:cNvPr id="221" name="Google Shape;2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271" y="2604000"/>
            <a:ext cx="6199475" cy="12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Bucles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612700" y="1273000"/>
            <a:ext cx="21564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while (condición){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</a:t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612700" y="3241750"/>
            <a:ext cx="2156400" cy="1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</a:t>
            </a:r>
            <a:r>
              <a:rPr lang="es"/>
              <a:t>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 while(condici</a:t>
            </a:r>
            <a:r>
              <a:rPr lang="es"/>
              <a:t>ón</a:t>
            </a:r>
            <a:r>
              <a:rPr lang="es"/>
              <a:t>)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4367625" y="1273000"/>
            <a:ext cx="42204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for (int i = valor, condici</a:t>
            </a:r>
            <a:r>
              <a:rPr lang="es"/>
              <a:t>ón, cambio){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4367625" y="3314200"/>
            <a:ext cx="42204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foreach (tipo nombre in array){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código;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Bucles</a:t>
            </a:r>
            <a:endParaRPr/>
          </a:p>
        </p:txBody>
      </p:sp>
      <p:pic>
        <p:nvPicPr>
          <p:cNvPr id="236" name="Google Shape;236;p39"/>
          <p:cNvPicPr preferRelativeResize="0"/>
          <p:nvPr/>
        </p:nvPicPr>
        <p:blipFill rotWithShape="1">
          <a:blip r:embed="rId3">
            <a:alphaModFix/>
          </a:blip>
          <a:srcRect b="51298" l="0" r="0" t="0"/>
          <a:stretch/>
        </p:blipFill>
        <p:spPr>
          <a:xfrm>
            <a:off x="259400" y="1196525"/>
            <a:ext cx="3884300" cy="2750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9"/>
          <p:cNvPicPr preferRelativeResize="0"/>
          <p:nvPr/>
        </p:nvPicPr>
        <p:blipFill rotWithShape="1">
          <a:blip r:embed="rId3">
            <a:alphaModFix/>
          </a:blip>
          <a:srcRect b="0" l="0" r="0" t="51298"/>
          <a:stretch/>
        </p:blipFill>
        <p:spPr>
          <a:xfrm>
            <a:off x="5079825" y="1196525"/>
            <a:ext cx="3884300" cy="27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Arrays</a:t>
            </a:r>
            <a:endParaRPr/>
          </a:p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declara igual que una variable pero añadiendo unos corchetes al final del tipo de dato.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Su </a:t>
            </a:r>
            <a:r>
              <a:rPr lang="es"/>
              <a:t>índice empieza desde el número 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el atributo </a:t>
            </a:r>
            <a:r>
              <a:rPr b="1" lang="es"/>
              <a:t>length</a:t>
            </a:r>
            <a:r>
              <a:rPr lang="es"/>
              <a:t> podemos recoger el tamaño del array.</a:t>
            </a:r>
            <a:endParaRPr/>
          </a:p>
        </p:txBody>
      </p:sp>
      <p:pic>
        <p:nvPicPr>
          <p:cNvPr id="244" name="Google Shape;2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938" y="3063350"/>
            <a:ext cx="4810125" cy="4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