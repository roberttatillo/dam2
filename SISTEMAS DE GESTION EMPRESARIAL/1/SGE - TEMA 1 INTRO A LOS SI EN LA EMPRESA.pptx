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345" r:id="rId3"/>
    <p:sldId id="359" r:id="rId4"/>
    <p:sldId id="361" r:id="rId5"/>
    <p:sldId id="360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80" r:id="rId15"/>
    <p:sldId id="370" r:id="rId16"/>
    <p:sldId id="372" r:id="rId17"/>
    <p:sldId id="373" r:id="rId18"/>
    <p:sldId id="375" r:id="rId19"/>
    <p:sldId id="374" r:id="rId20"/>
    <p:sldId id="376" r:id="rId21"/>
    <p:sldId id="377" r:id="rId22"/>
    <p:sldId id="378" r:id="rId23"/>
    <p:sldId id="379" r:id="rId24"/>
    <p:sldId id="381" r:id="rId25"/>
    <p:sldId id="382" r:id="rId26"/>
    <p:sldId id="383" r:id="rId27"/>
    <p:sldId id="384" r:id="rId28"/>
    <p:sldId id="385" r:id="rId29"/>
    <p:sldId id="386" r:id="rId30"/>
    <p:sldId id="387" r:id="rId31"/>
    <p:sldId id="388" r:id="rId32"/>
    <p:sldId id="389" r:id="rId33"/>
    <p:sldId id="349" r:id="rId3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F0A"/>
    <a:srgbClr val="0070C0"/>
    <a:srgbClr val="0094C8"/>
    <a:srgbClr val="0060AD"/>
    <a:srgbClr val="008080"/>
    <a:srgbClr val="0000CC"/>
    <a:srgbClr val="CCCC00"/>
    <a:srgbClr val="9E5206"/>
    <a:srgbClr val="FF0066"/>
    <a:srgbClr val="00A7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5" autoAdjust="0"/>
  </p:normalViewPr>
  <p:slideViewPr>
    <p:cSldViewPr snapToGrid="0" showGuides="1">
      <p:cViewPr varScale="1">
        <p:scale>
          <a:sx n="48" d="100"/>
          <a:sy n="48" d="100"/>
        </p:scale>
        <p:origin x="62" y="78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ED5D0-FFDB-4991-9FE3-9207D3A4FA44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A7B65-EB48-4F80-9F0F-1E2999BE94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9598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20559-1600-4D0F-83A4-B881F8749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670F42-DE36-474F-B009-89D278431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0202DE-4B2B-4582-A689-95088949D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E005C7-F86D-47D1-9E9A-FF6E209F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B21433-4632-4018-A803-2E65387A1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9426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2F63C-7285-44DE-A205-AEBB12D4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C1510-13F8-4D65-A206-01DC2FA1C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505F1A-50CD-4F90-BC33-03A557E9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C16EB2-C9EB-4ACC-A7F9-D5E64E52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CEF105-2897-4F5D-82AB-263E36BD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0669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AC1D0-3B07-4378-BF9B-241CA04B7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F51BEE-F782-4C17-902D-5F23B80EE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EB7AFD-DB1B-4280-A295-575A1A5B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0C1D72-E0C7-4851-A2DD-095E26CB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FCD692-6CA1-427C-9470-7B00B42A4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1664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6B21A-2855-4DB7-A7CB-525F134F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DCA4F4-7583-45A1-9D06-6D913C62F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B6D0ED-88DD-4E7A-AE77-E588240F2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B63F3B-B68C-4773-89B6-8C8329B12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8F9E27-01BE-4C1E-8F1E-3C6B63C85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6B68A9-9132-4B41-B470-5FE40C5F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1680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B986E-F4CA-4731-9D08-1A4F29FAD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0B3E2E-6F26-4A6F-873D-D519DBAEA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3F39A3-A191-4A9A-9C48-B0C3FA469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EECC318-19D5-404E-8546-EAFB78923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0BDEE5E-D0BF-4665-9B2B-76AE050E7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D998C4A-7B04-478A-9F21-2A2B41A8B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B5AF70-9540-42DB-B7C9-B98D838BF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D05632E-97A3-4A2A-9148-7A358965E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4594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887FE-7C2F-4744-A11F-332E0E79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58667CA-7FD8-4675-8842-E2F82D904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508977-7D61-40A8-8F62-AB8A944F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40863F-4ACC-494F-9113-500B90FF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441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F965AE2-E745-4AC5-8268-142C08A3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2843EDA-AFBA-4F24-9A61-32E5E391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9DC409-3B97-47D1-87B5-87B559C8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664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90111-7047-44DD-82AC-CEF26223B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500E0B-6E83-40F2-BE2A-1D23B8E40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C2888A-995D-42B4-B1B4-E1DF4E870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90A64D-3427-4465-B59B-2A1D376A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E729AD-18E4-4C00-BFD3-65BA1A4FC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435DB5-C5A3-4D94-9F2E-CDE7B77F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6240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05C89-A652-4174-A475-84E95CF0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3EAC3A-18D1-47BD-BBA0-E3B1F556F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29AE27-3177-4D5D-9A6F-72DDE26CE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7AB07E-8DF8-4FC4-9E9E-5C05B337A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AABA3D-1B42-4476-AAD6-7D44AC0B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FBFCFC-504B-452C-AD76-E2F06CAF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477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BDC14-BD18-4E8A-AA1E-1222E4148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4E3E52-4239-41D1-88BA-82ABA8398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3453E7-6882-466E-9153-C7473516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C54C12-B262-4793-BC78-C19F829DF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9C21B9-B8B2-4769-AE1B-ADA3C895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4779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BFCE7E-DC64-43EF-8E4F-36A71DC0D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6A2FA1-1909-4B3B-BE3D-40B26D298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80A1D4-8E31-4D30-969F-2ABC07F34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3D8E41-C054-4D91-B779-936CA5B72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E0632A-F15A-47FB-BFCC-F45C97F8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75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DC1E45-1F0F-4345-B7EA-061CCE35C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B8A302-74AA-4AF9-8E7D-909B7640F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F714C2-F396-4A20-8D16-847C95F427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43C77-3E4B-4B4D-9666-C88C00C25CD5}" type="datetimeFigureOut">
              <a:rPr lang="es-ES" smtClean="0"/>
              <a:t>03/10/2022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BE01F5-5DE8-43FE-870D-7C45F86A0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C05EAD-E7A5-4504-A11A-3679B8BDC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B77E9-2791-46F2-AB06-9240806CF9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48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F2E4F364-5B72-4F1A-AF82-35CF5AC9885D}"/>
              </a:ext>
            </a:extLst>
          </p:cNvPr>
          <p:cNvSpPr/>
          <p:nvPr/>
        </p:nvSpPr>
        <p:spPr>
          <a:xfrm>
            <a:off x="434107" y="387928"/>
            <a:ext cx="11425383" cy="6082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C86D67F9-845D-4A9E-96B6-3D559F481FAB}"/>
              </a:ext>
            </a:extLst>
          </p:cNvPr>
          <p:cNvSpPr/>
          <p:nvPr/>
        </p:nvSpPr>
        <p:spPr>
          <a:xfrm>
            <a:off x="434108" y="387928"/>
            <a:ext cx="4920317" cy="5379817"/>
          </a:xfrm>
          <a:custGeom>
            <a:avLst/>
            <a:gdLst>
              <a:gd name="connsiteX0" fmla="*/ 0 w 4920317"/>
              <a:gd name="connsiteY0" fmla="*/ 0 h 5379817"/>
              <a:gd name="connsiteX1" fmla="*/ 4302156 w 4920317"/>
              <a:gd name="connsiteY1" fmla="*/ 0 h 5379817"/>
              <a:gd name="connsiteX2" fmla="*/ 4364488 w 4920317"/>
              <a:gd name="connsiteY2" fmla="*/ 84161 h 5379817"/>
              <a:gd name="connsiteX3" fmla="*/ 4920317 w 4920317"/>
              <a:gd name="connsiteY3" fmla="*/ 1844093 h 5379817"/>
              <a:gd name="connsiteX4" fmla="*/ 725015 w 4920317"/>
              <a:gd name="connsiteY4" fmla="*/ 5379817 h 5379817"/>
              <a:gd name="connsiteX5" fmla="*/ 296069 w 4920317"/>
              <a:gd name="connsiteY5" fmla="*/ 5361562 h 5379817"/>
              <a:gd name="connsiteX6" fmla="*/ 0 w 4920317"/>
              <a:gd name="connsiteY6" fmla="*/ 5323481 h 5379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20317" h="5379817">
                <a:moveTo>
                  <a:pt x="0" y="0"/>
                </a:moveTo>
                <a:lnTo>
                  <a:pt x="4302156" y="0"/>
                </a:lnTo>
                <a:lnTo>
                  <a:pt x="4364488" y="84161"/>
                </a:lnTo>
                <a:cubicBezTo>
                  <a:pt x="4718089" y="602424"/>
                  <a:pt x="4920317" y="1203354"/>
                  <a:pt x="4920317" y="1844093"/>
                </a:cubicBezTo>
                <a:cubicBezTo>
                  <a:pt x="4920317" y="3796820"/>
                  <a:pt x="3042016" y="5379817"/>
                  <a:pt x="725015" y="5379817"/>
                </a:cubicBezTo>
                <a:cubicBezTo>
                  <a:pt x="580202" y="5379817"/>
                  <a:pt x="437104" y="5373634"/>
                  <a:pt x="296069" y="5361562"/>
                </a:cubicBezTo>
                <a:lnTo>
                  <a:pt x="0" y="5323481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B0D580A4-CA7C-4FD6-977A-9E6E10475AD9}"/>
              </a:ext>
            </a:extLst>
          </p:cNvPr>
          <p:cNvSpPr/>
          <p:nvPr/>
        </p:nvSpPr>
        <p:spPr>
          <a:xfrm>
            <a:off x="434108" y="387928"/>
            <a:ext cx="2789383" cy="3563361"/>
          </a:xfrm>
          <a:custGeom>
            <a:avLst/>
            <a:gdLst>
              <a:gd name="connsiteX0" fmla="*/ 0 w 2789383"/>
              <a:gd name="connsiteY0" fmla="*/ 0 h 3563361"/>
              <a:gd name="connsiteX1" fmla="*/ 2254846 w 2789383"/>
              <a:gd name="connsiteY1" fmla="*/ 0 h 3563361"/>
              <a:gd name="connsiteX2" fmla="*/ 2383196 w 2789383"/>
              <a:gd name="connsiteY2" fmla="*/ 157642 h 3563361"/>
              <a:gd name="connsiteX3" fmla="*/ 2789383 w 2789383"/>
              <a:gd name="connsiteY3" fmla="*/ 1378961 h 3563361"/>
              <a:gd name="connsiteX4" fmla="*/ 411019 w 2789383"/>
              <a:gd name="connsiteY4" fmla="*/ 3563361 h 3563361"/>
              <a:gd name="connsiteX5" fmla="*/ 167845 w 2789383"/>
              <a:gd name="connsiteY5" fmla="*/ 3552083 h 3563361"/>
              <a:gd name="connsiteX6" fmla="*/ 0 w 2789383"/>
              <a:gd name="connsiteY6" fmla="*/ 3528556 h 3563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89383" h="3563361">
                <a:moveTo>
                  <a:pt x="0" y="0"/>
                </a:moveTo>
                <a:lnTo>
                  <a:pt x="2254846" y="0"/>
                </a:lnTo>
                <a:lnTo>
                  <a:pt x="2383196" y="157642"/>
                </a:lnTo>
                <a:cubicBezTo>
                  <a:pt x="2639642" y="506275"/>
                  <a:pt x="2789383" y="926557"/>
                  <a:pt x="2789383" y="1378961"/>
                </a:cubicBezTo>
                <a:cubicBezTo>
                  <a:pt x="2789383" y="2585372"/>
                  <a:pt x="1724553" y="3563361"/>
                  <a:pt x="411019" y="3563361"/>
                </a:cubicBezTo>
                <a:cubicBezTo>
                  <a:pt x="328923" y="3563361"/>
                  <a:pt x="247799" y="3559541"/>
                  <a:pt x="167845" y="3552083"/>
                </a:cubicBezTo>
                <a:lnTo>
                  <a:pt x="0" y="3528556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D9BDB6F-1964-46D2-8C6E-79082BBC523A}"/>
              </a:ext>
            </a:extLst>
          </p:cNvPr>
          <p:cNvGrpSpPr/>
          <p:nvPr/>
        </p:nvGrpSpPr>
        <p:grpSpPr>
          <a:xfrm rot="10800000">
            <a:off x="9929244" y="4359563"/>
            <a:ext cx="1930246" cy="2110508"/>
            <a:chOff x="6257636" y="1261380"/>
            <a:chExt cx="4920317" cy="5379817"/>
          </a:xfrm>
        </p:grpSpPr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65D294E6-622A-4A59-806C-489FEF1C2886}"/>
                </a:ext>
              </a:extLst>
            </p:cNvPr>
            <p:cNvSpPr/>
            <p:nvPr/>
          </p:nvSpPr>
          <p:spPr>
            <a:xfrm>
              <a:off x="6257636" y="1261380"/>
              <a:ext cx="4920317" cy="5379817"/>
            </a:xfrm>
            <a:custGeom>
              <a:avLst/>
              <a:gdLst>
                <a:gd name="connsiteX0" fmla="*/ 0 w 4920317"/>
                <a:gd name="connsiteY0" fmla="*/ 0 h 5379817"/>
                <a:gd name="connsiteX1" fmla="*/ 4302156 w 4920317"/>
                <a:gd name="connsiteY1" fmla="*/ 0 h 5379817"/>
                <a:gd name="connsiteX2" fmla="*/ 4364488 w 4920317"/>
                <a:gd name="connsiteY2" fmla="*/ 84161 h 5379817"/>
                <a:gd name="connsiteX3" fmla="*/ 4920317 w 4920317"/>
                <a:gd name="connsiteY3" fmla="*/ 1844093 h 5379817"/>
                <a:gd name="connsiteX4" fmla="*/ 725015 w 4920317"/>
                <a:gd name="connsiteY4" fmla="*/ 5379817 h 5379817"/>
                <a:gd name="connsiteX5" fmla="*/ 296069 w 4920317"/>
                <a:gd name="connsiteY5" fmla="*/ 5361562 h 5379817"/>
                <a:gd name="connsiteX6" fmla="*/ 0 w 4920317"/>
                <a:gd name="connsiteY6" fmla="*/ 5323481 h 537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20317" h="5379817">
                  <a:moveTo>
                    <a:pt x="0" y="0"/>
                  </a:moveTo>
                  <a:lnTo>
                    <a:pt x="4302156" y="0"/>
                  </a:lnTo>
                  <a:lnTo>
                    <a:pt x="4364488" y="84161"/>
                  </a:lnTo>
                  <a:cubicBezTo>
                    <a:pt x="4718089" y="602424"/>
                    <a:pt x="4920317" y="1203354"/>
                    <a:pt x="4920317" y="1844093"/>
                  </a:cubicBezTo>
                  <a:cubicBezTo>
                    <a:pt x="4920317" y="3796820"/>
                    <a:pt x="3042016" y="5379817"/>
                    <a:pt x="725015" y="5379817"/>
                  </a:cubicBezTo>
                  <a:cubicBezTo>
                    <a:pt x="580202" y="5379817"/>
                    <a:pt x="437104" y="5373634"/>
                    <a:pt x="296069" y="5361562"/>
                  </a:cubicBezTo>
                  <a:lnTo>
                    <a:pt x="0" y="5323481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2DCA5B2D-84A8-40BF-BAAB-F64C46B7D17D}"/>
                </a:ext>
              </a:extLst>
            </p:cNvPr>
            <p:cNvSpPr/>
            <p:nvPr/>
          </p:nvSpPr>
          <p:spPr>
            <a:xfrm>
              <a:off x="6257636" y="1261380"/>
              <a:ext cx="2789383" cy="3563361"/>
            </a:xfrm>
            <a:custGeom>
              <a:avLst/>
              <a:gdLst>
                <a:gd name="connsiteX0" fmla="*/ 0 w 2789383"/>
                <a:gd name="connsiteY0" fmla="*/ 0 h 3563361"/>
                <a:gd name="connsiteX1" fmla="*/ 2254846 w 2789383"/>
                <a:gd name="connsiteY1" fmla="*/ 0 h 3563361"/>
                <a:gd name="connsiteX2" fmla="*/ 2383196 w 2789383"/>
                <a:gd name="connsiteY2" fmla="*/ 157642 h 3563361"/>
                <a:gd name="connsiteX3" fmla="*/ 2789383 w 2789383"/>
                <a:gd name="connsiteY3" fmla="*/ 1378961 h 3563361"/>
                <a:gd name="connsiteX4" fmla="*/ 411019 w 2789383"/>
                <a:gd name="connsiteY4" fmla="*/ 3563361 h 3563361"/>
                <a:gd name="connsiteX5" fmla="*/ 167845 w 2789383"/>
                <a:gd name="connsiteY5" fmla="*/ 3552083 h 3563361"/>
                <a:gd name="connsiteX6" fmla="*/ 0 w 2789383"/>
                <a:gd name="connsiteY6" fmla="*/ 3528556 h 356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89383" h="3563361">
                  <a:moveTo>
                    <a:pt x="0" y="0"/>
                  </a:moveTo>
                  <a:lnTo>
                    <a:pt x="2254846" y="0"/>
                  </a:lnTo>
                  <a:lnTo>
                    <a:pt x="2383196" y="157642"/>
                  </a:lnTo>
                  <a:cubicBezTo>
                    <a:pt x="2639642" y="506275"/>
                    <a:pt x="2789383" y="926557"/>
                    <a:pt x="2789383" y="1378961"/>
                  </a:cubicBezTo>
                  <a:cubicBezTo>
                    <a:pt x="2789383" y="2585372"/>
                    <a:pt x="1724553" y="3563361"/>
                    <a:pt x="411019" y="3563361"/>
                  </a:cubicBezTo>
                  <a:cubicBezTo>
                    <a:pt x="328923" y="3563361"/>
                    <a:pt x="247799" y="3559541"/>
                    <a:pt x="167845" y="3552083"/>
                  </a:cubicBezTo>
                  <a:lnTo>
                    <a:pt x="0" y="3528556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E0490BE0-43CD-42BF-A4D7-46FF0E6080F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70" y="516769"/>
            <a:ext cx="2119038" cy="1191959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1049824C-0D26-4B00-A916-99DE6AF727F2}"/>
              </a:ext>
            </a:extLst>
          </p:cNvPr>
          <p:cNvSpPr/>
          <p:nvPr/>
        </p:nvSpPr>
        <p:spPr>
          <a:xfrm>
            <a:off x="5060513" y="2271394"/>
            <a:ext cx="6863097" cy="280076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SGE-DAM-2º</a:t>
            </a:r>
            <a:endParaRPr lang="es-ES" sz="4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algn="ctr"/>
            <a:r>
              <a:rPr lang="es-E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“Introducción a los sistemas </a:t>
            </a:r>
          </a:p>
          <a:p>
            <a:pPr algn="ctr"/>
            <a:r>
              <a:rPr lang="es-E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de información </a:t>
            </a:r>
          </a:p>
          <a:p>
            <a:pPr algn="ctr"/>
            <a:r>
              <a:rPr lang="es-ES" sz="4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en la empresa”</a:t>
            </a:r>
            <a:endParaRPr lang="es-ES" sz="4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040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6" grpId="0" animBg="1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4355545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6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Introducción</a:t>
            </a:r>
            <a:r>
              <a:rPr lang="es-E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endParaRPr lang="es-E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876701" y="2252311"/>
            <a:ext cx="3535680" cy="329320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/>
              <a:t>Definición de </a:t>
            </a:r>
            <a:r>
              <a:rPr lang="es-ES" sz="3200" dirty="0" smtClean="0"/>
              <a:t>SISTEMA de INFORMACIÓN (SI):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Ordenadores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Personas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Procedimientos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S</a:t>
            </a:r>
            <a:r>
              <a:rPr lang="es-ES" sz="2800" dirty="0" smtClean="0"/>
              <a:t>oftware</a:t>
            </a:r>
            <a:endParaRPr lang="es-ES" sz="2800" dirty="0"/>
          </a:p>
        </p:txBody>
      </p:sp>
      <p:sp>
        <p:nvSpPr>
          <p:cNvPr id="9" name="CuadroTexto 8"/>
          <p:cNvSpPr txBox="1"/>
          <p:nvPr/>
        </p:nvSpPr>
        <p:spPr>
          <a:xfrm>
            <a:off x="6143324" y="1636757"/>
            <a:ext cx="5044440" cy="452431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/>
              <a:t>Definición de </a:t>
            </a:r>
            <a:r>
              <a:rPr lang="es-ES" sz="3200" dirty="0" smtClean="0"/>
              <a:t>ERP (ENTERPRISE RESOURCE PLANNING):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Software/</a:t>
            </a:r>
            <a:r>
              <a:rPr lang="es-ES" sz="3200" dirty="0" err="1" smtClean="0"/>
              <a:t>macroaplicación</a:t>
            </a:r>
            <a:endParaRPr lang="es-ES" sz="3200" dirty="0" smtClean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Coordina TODA la </a:t>
            </a:r>
            <a:r>
              <a:rPr lang="es-ES" sz="3200" dirty="0" err="1" smtClean="0"/>
              <a:t>info</a:t>
            </a:r>
            <a:r>
              <a:rPr lang="es-ES" sz="3200" dirty="0" smtClean="0"/>
              <a:t> de una empresa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Una única BBDD</a:t>
            </a:r>
          </a:p>
          <a:p>
            <a:pPr lvl="0"/>
            <a:endParaRPr lang="es-ES" sz="3200" dirty="0" smtClean="0"/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s-ES" sz="3200" dirty="0" smtClean="0"/>
          </a:p>
        </p:txBody>
      </p:sp>
    </p:spTree>
    <p:extLst>
      <p:ext uri="{BB962C8B-B14F-4D97-AF65-F5344CB8AC3E}">
        <p14:creationId xmlns:p14="http://schemas.microsoft.com/office/powerpoint/2010/main" val="35382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AREAS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FUNCIONALES(AF) Y PROCESOS DE NEGOCIO(PN) 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796491" y="2009994"/>
            <a:ext cx="3775508" cy="280076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ÁREAS FUNCIONALES (o de negocio):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M/S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SCM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A/F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smtClean="0"/>
              <a:t>HR</a:t>
            </a:r>
            <a:endParaRPr lang="es-ES" sz="2800" dirty="0"/>
          </a:p>
        </p:txBody>
      </p:sp>
      <p:sp>
        <p:nvSpPr>
          <p:cNvPr id="9" name="CuadroTexto 8"/>
          <p:cNvSpPr txBox="1"/>
          <p:nvPr/>
        </p:nvSpPr>
        <p:spPr>
          <a:xfrm>
            <a:off x="796492" y="5308980"/>
            <a:ext cx="3775508" cy="10772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FUNCIONES de NEGOCIO: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845" y="2019620"/>
            <a:ext cx="5982218" cy="43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62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AREAS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FUNCIONALES(AF) Y PROCESOS DE NEGOCIO(PN) 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037122" y="2956478"/>
            <a:ext cx="3775508" cy="15696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/>
              <a:t>L</a:t>
            </a:r>
            <a:r>
              <a:rPr lang="es-ES" sz="3200" dirty="0" smtClean="0"/>
              <a:t>as áreas funcionales son …</a:t>
            </a:r>
          </a:p>
          <a:p>
            <a:pPr lvl="0"/>
            <a:r>
              <a:rPr lang="es-ES" sz="3200" dirty="0" smtClean="0"/>
              <a:t>INTERDEPENDIENTES</a:t>
            </a:r>
            <a:endParaRPr lang="es-ES" sz="2800" dirty="0"/>
          </a:p>
        </p:txBody>
      </p:sp>
      <p:sp>
        <p:nvSpPr>
          <p:cNvPr id="9" name="CuadroTexto 8"/>
          <p:cNvSpPr txBox="1"/>
          <p:nvPr/>
        </p:nvSpPr>
        <p:spPr>
          <a:xfrm>
            <a:off x="6699986" y="2965523"/>
            <a:ext cx="3775508" cy="15696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Necesitan …</a:t>
            </a:r>
          </a:p>
          <a:p>
            <a:pPr lvl="0"/>
            <a:r>
              <a:rPr lang="es-ES" sz="3200" dirty="0" smtClean="0"/>
              <a:t>INTEGRACIÓN y </a:t>
            </a:r>
          </a:p>
          <a:p>
            <a:pPr lvl="0"/>
            <a:r>
              <a:rPr lang="es-ES" sz="3200" dirty="0" smtClean="0"/>
              <a:t>COMPARTIR INFO</a:t>
            </a:r>
          </a:p>
        </p:txBody>
      </p:sp>
    </p:spTree>
    <p:extLst>
      <p:ext uri="{BB962C8B-B14F-4D97-AF65-F5344CB8AC3E}">
        <p14:creationId xmlns:p14="http://schemas.microsoft.com/office/powerpoint/2010/main" val="230932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AREAS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FUNCIONALES(AF) Y PROCESOS DE NEGOCIO(PN) 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678123" y="2138331"/>
            <a:ext cx="5347636" cy="353943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Definición de PROCESO DE NEGOCIO: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Conjunto </a:t>
            </a:r>
            <a:r>
              <a:rPr lang="es-ES" sz="3200" dirty="0"/>
              <a:t>de actividades que toman uno o más tipos de entradas y crean una salida que es </a:t>
            </a:r>
            <a:r>
              <a:rPr lang="es-ES" sz="3200" dirty="0" smtClean="0"/>
              <a:t>de valor </a:t>
            </a:r>
            <a:r>
              <a:rPr lang="es-ES" sz="3200" dirty="0"/>
              <a:t>para el cliente.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7042483" y="2828141"/>
            <a:ext cx="3673641" cy="15696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CLIENTE: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Interno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Externo</a:t>
            </a:r>
          </a:p>
        </p:txBody>
      </p:sp>
    </p:spTree>
    <p:extLst>
      <p:ext uri="{BB962C8B-B14F-4D97-AF65-F5344CB8AC3E}">
        <p14:creationId xmlns:p14="http://schemas.microsoft.com/office/powerpoint/2010/main" val="710730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AREAS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FUNCIONALES(AF) Y PROCESOS DE NEGOCIO(PN) 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267326" y="2170414"/>
            <a:ext cx="5694948" cy="10772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/>
              <a:t>P</a:t>
            </a:r>
            <a:r>
              <a:rPr lang="es-ES" sz="3200" dirty="0" smtClean="0"/>
              <a:t>rocesos de negocio: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err="1" smtClean="0"/>
              <a:t>Pto</a:t>
            </a:r>
            <a:r>
              <a:rPr lang="es-ES" sz="3200" dirty="0" smtClean="0"/>
              <a:t> de vista del cliente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1267326" y="3806709"/>
            <a:ext cx="5694948" cy="206210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/>
              <a:t>P</a:t>
            </a:r>
            <a:r>
              <a:rPr lang="es-ES" sz="3200" dirty="0" smtClean="0"/>
              <a:t>rocesos de negocio: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Éxito si el cliente no tiene que </a:t>
            </a:r>
            <a:r>
              <a:rPr lang="es-ES" sz="3200" dirty="0" err="1" smtClean="0"/>
              <a:t>intereactuar</a:t>
            </a:r>
            <a:r>
              <a:rPr lang="es-ES" sz="3200" dirty="0" smtClean="0"/>
              <a:t> con cada área de negocio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7597886" y="2887952"/>
            <a:ext cx="3599504" cy="206210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Áreas de negocio …</a:t>
            </a:r>
          </a:p>
          <a:p>
            <a:pPr lvl="0"/>
            <a:r>
              <a:rPr lang="es-ES" sz="3200" dirty="0" smtClean="0"/>
              <a:t>INTEGRADAS  = </a:t>
            </a:r>
          </a:p>
          <a:p>
            <a:pPr lvl="0"/>
            <a:r>
              <a:rPr lang="es-ES" sz="3200" dirty="0" smtClean="0"/>
              <a:t>SATISFACCIÓN CLIENTE</a:t>
            </a:r>
          </a:p>
        </p:txBody>
      </p:sp>
    </p:spTree>
    <p:extLst>
      <p:ext uri="{BB962C8B-B14F-4D97-AF65-F5344CB8AC3E}">
        <p14:creationId xmlns:p14="http://schemas.microsoft.com/office/powerpoint/2010/main" val="82137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AREAS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FUNCIONALES(AF) Y PROCESOS DE NEGOCIO(PN) 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748590" y="6004477"/>
            <a:ext cx="9143998" cy="40011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2000" dirty="0"/>
              <a:t>P</a:t>
            </a:r>
            <a:r>
              <a:rPr lang="es-ES" sz="2000" dirty="0" smtClean="0"/>
              <a:t>rocesos de negocio relacionados con la venta de un ordenador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801" y="2019620"/>
            <a:ext cx="7416093" cy="380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46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AREAS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FUNCIONALES(AF) Y PROCESOS DE NEGOCIO(PN) 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2993801" y="2468799"/>
            <a:ext cx="6326661" cy="206210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Definición de </a:t>
            </a:r>
            <a:r>
              <a:rPr lang="es-ES" sz="3200" dirty="0" err="1" smtClean="0"/>
              <a:t>S.i.</a:t>
            </a:r>
            <a:r>
              <a:rPr lang="es-ES" sz="3200" dirty="0" smtClean="0"/>
              <a:t> INTEGRADO (SII)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Aquel diseñado de forma que </a:t>
            </a:r>
            <a:r>
              <a:rPr lang="es-ES" sz="3200" dirty="0"/>
              <a:t>las áreas funcionales compartan datos</a:t>
            </a:r>
          </a:p>
        </p:txBody>
      </p:sp>
    </p:spTree>
    <p:extLst>
      <p:ext uri="{BB962C8B-B14F-4D97-AF65-F5344CB8AC3E}">
        <p14:creationId xmlns:p14="http://schemas.microsoft.com/office/powerpoint/2010/main" val="81605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AREAS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FUNCIONALES(AF) Y PROCESOS DE NEGOCIO(PN) </a:t>
            </a:r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de una PYME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3057970" y="2484841"/>
            <a:ext cx="6326661" cy="10772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Ejemplo de una PYME: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Un STAND DE LIMONADA FRESCA</a:t>
            </a:r>
            <a:endParaRPr lang="es-ES" sz="3200" dirty="0"/>
          </a:p>
        </p:txBody>
      </p:sp>
      <p:sp>
        <p:nvSpPr>
          <p:cNvPr id="5" name="CuadroTexto 4"/>
          <p:cNvSpPr txBox="1"/>
          <p:nvPr/>
        </p:nvSpPr>
        <p:spPr>
          <a:xfrm>
            <a:off x="4458618" y="4027280"/>
            <a:ext cx="3134282" cy="206210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3200" dirty="0" smtClean="0"/>
              <a:t>Procesos de negocio</a:t>
            </a:r>
          </a:p>
          <a:p>
            <a:pPr lvl="0" algn="ctr"/>
            <a:r>
              <a:rPr lang="es-ES" sz="3200" dirty="0" smtClean="0"/>
              <a:t>y</a:t>
            </a:r>
          </a:p>
          <a:p>
            <a:pPr lvl="0" algn="ctr"/>
            <a:r>
              <a:rPr lang="es-ES" sz="3200" dirty="0" smtClean="0"/>
              <a:t>Áreas funcionales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347112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AREAS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FUNCIONALES(AF) Y PROCESOS DE NEGOCIO(PN) </a:t>
            </a:r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de una PYME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3186306" y="2626207"/>
            <a:ext cx="5011209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MARKETING Y VENTAS (M/S)</a:t>
            </a:r>
            <a:endParaRPr lang="es-ES" sz="3200" dirty="0"/>
          </a:p>
        </p:txBody>
      </p:sp>
      <p:sp>
        <p:nvSpPr>
          <p:cNvPr id="5" name="CuadroTexto 4"/>
          <p:cNvSpPr txBox="1"/>
          <p:nvPr/>
        </p:nvSpPr>
        <p:spPr>
          <a:xfrm>
            <a:off x="1103326" y="5652396"/>
            <a:ext cx="6722726" cy="36933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i="1" dirty="0" smtClean="0"/>
              <a:t>Funciones</a:t>
            </a:r>
            <a:endParaRPr lang="es-ES" i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1103325" y="3512770"/>
            <a:ext cx="6722726" cy="156966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D</a:t>
            </a:r>
            <a:r>
              <a:rPr lang="es-ES" sz="2400" dirty="0" smtClean="0"/>
              <a:t>esarrollo </a:t>
            </a:r>
            <a:r>
              <a:rPr lang="es-ES" sz="2400" dirty="0"/>
              <a:t>de los productos.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Precio</a:t>
            </a:r>
            <a:r>
              <a:rPr lang="es-E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Promoción </a:t>
            </a:r>
            <a:r>
              <a:rPr lang="es-ES" sz="2400" dirty="0"/>
              <a:t>de </a:t>
            </a:r>
            <a:r>
              <a:rPr lang="es-ES" sz="2400" dirty="0" smtClean="0"/>
              <a:t>productos </a:t>
            </a:r>
            <a:r>
              <a:rPr lang="es-ES" sz="2400" dirty="0"/>
              <a:t>a </a:t>
            </a:r>
            <a:r>
              <a:rPr lang="es-ES" sz="2400" dirty="0" smtClean="0"/>
              <a:t>clientes</a:t>
            </a:r>
            <a:r>
              <a:rPr lang="es-E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Recibir pedidos </a:t>
            </a:r>
            <a:r>
              <a:rPr lang="es-ES" sz="2400" dirty="0"/>
              <a:t>de </a:t>
            </a:r>
            <a:r>
              <a:rPr lang="es-ES" sz="2400" dirty="0" smtClean="0"/>
              <a:t>clientes</a:t>
            </a:r>
            <a:r>
              <a:rPr lang="es-ES" sz="2400" dirty="0"/>
              <a:t>.</a:t>
            </a:r>
            <a:endParaRPr lang="es-ES" sz="2400" i="1" dirty="0"/>
          </a:p>
        </p:txBody>
      </p:sp>
      <p:sp>
        <p:nvSpPr>
          <p:cNvPr id="8" name="CuadroTexto 7"/>
          <p:cNvSpPr txBox="1"/>
          <p:nvPr/>
        </p:nvSpPr>
        <p:spPr>
          <a:xfrm>
            <a:off x="8665851" y="3794779"/>
            <a:ext cx="2817177" cy="12003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400" dirty="0" smtClean="0"/>
              <a:t>Relación con 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SCM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A/F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69474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AREAS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FUNCIONALES(AF) Y PROCESOS DE NEGOCIO(PN) </a:t>
            </a:r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de una PYME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351432" y="2882114"/>
            <a:ext cx="9085905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/>
              <a:t>GESTIÓN DE LA CADENA DE </a:t>
            </a:r>
            <a:r>
              <a:rPr lang="es-ES" sz="3200" dirty="0" smtClean="0"/>
              <a:t>SUMINISTRO(SCM)</a:t>
            </a:r>
            <a:endParaRPr lang="es-ES" sz="3200" dirty="0"/>
          </a:p>
        </p:txBody>
      </p:sp>
      <p:sp>
        <p:nvSpPr>
          <p:cNvPr id="5" name="CuadroTexto 4"/>
          <p:cNvSpPr txBox="1"/>
          <p:nvPr/>
        </p:nvSpPr>
        <p:spPr>
          <a:xfrm>
            <a:off x="1351433" y="5780541"/>
            <a:ext cx="6722726" cy="36933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i="1" dirty="0" smtClean="0"/>
              <a:t>Funciones</a:t>
            </a:r>
            <a:endParaRPr lang="es-ES" i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1351432" y="4164111"/>
            <a:ext cx="6722726" cy="83099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Hacer limonada (fabricación/producción).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Comprar materias primas (adquisición).</a:t>
            </a:r>
            <a:endParaRPr lang="es-ES" sz="2400" i="1" dirty="0"/>
          </a:p>
        </p:txBody>
      </p:sp>
      <p:sp>
        <p:nvSpPr>
          <p:cNvPr id="8" name="CuadroTexto 7"/>
          <p:cNvSpPr txBox="1"/>
          <p:nvPr/>
        </p:nvSpPr>
        <p:spPr>
          <a:xfrm>
            <a:off x="8665851" y="3794779"/>
            <a:ext cx="2817177" cy="12003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400" dirty="0" smtClean="0"/>
              <a:t>Relación con 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M/S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A/F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83326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AREAS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FUNCIONALES(AF) Y PROCESOS DE NEGOCIO(PN) </a:t>
            </a:r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de una PYME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351432" y="2489397"/>
            <a:ext cx="9085905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/>
              <a:t>CONTABILIDAD Y FINANZAS (A/F)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351433" y="5780541"/>
            <a:ext cx="6722726" cy="36933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i="1" dirty="0" smtClean="0"/>
              <a:t>Funciones</a:t>
            </a:r>
            <a:endParaRPr lang="es-ES" i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1351432" y="3466889"/>
            <a:ext cx="6722726" cy="193899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Registrar datos en crudo sobre las transacciones (incluyendo las ventas).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Las </a:t>
            </a:r>
            <a:r>
              <a:rPr lang="es-ES" sz="2400" dirty="0"/>
              <a:t>adquisiciones de materias </a:t>
            </a:r>
            <a:r>
              <a:rPr lang="es-ES" sz="2400" dirty="0" smtClean="0"/>
              <a:t>primas (compras)</a:t>
            </a: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Nómina</a:t>
            </a:r>
            <a:r>
              <a:rPr lang="es-E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Recepción </a:t>
            </a:r>
            <a:r>
              <a:rPr lang="es-ES" sz="2400" dirty="0"/>
              <a:t>del efectivo de los clientes.</a:t>
            </a:r>
            <a:endParaRPr lang="es-ES" sz="2400" i="1" dirty="0"/>
          </a:p>
        </p:txBody>
      </p:sp>
      <p:sp>
        <p:nvSpPr>
          <p:cNvPr id="8" name="CuadroTexto 7"/>
          <p:cNvSpPr txBox="1"/>
          <p:nvPr/>
        </p:nvSpPr>
        <p:spPr>
          <a:xfrm>
            <a:off x="8665851" y="3794779"/>
            <a:ext cx="2817177" cy="12003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400" dirty="0" smtClean="0"/>
              <a:t>Relación con 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M/S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SCM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29220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AREAS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FUNCIONALES(AF) Y PROCESOS DE NEGOCIO(PN) </a:t>
            </a:r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de una PYME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351432" y="2489397"/>
            <a:ext cx="9085905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/>
              <a:t>RECURSOS HUMANOS (HR)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351432" y="5780541"/>
            <a:ext cx="2739305" cy="36933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i="1" dirty="0" smtClean="0"/>
              <a:t>Funciones</a:t>
            </a:r>
            <a:endParaRPr lang="es-ES" i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1351432" y="3466889"/>
            <a:ext cx="2546800" cy="156966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Contratar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Formar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Evaluar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</a:t>
            </a:r>
            <a:r>
              <a:rPr lang="es-ES" sz="2400" dirty="0" smtClean="0"/>
              <a:t>agar</a:t>
            </a:r>
            <a:endParaRPr lang="es-ES" sz="2400" dirty="0"/>
          </a:p>
        </p:txBody>
      </p:sp>
      <p:sp>
        <p:nvSpPr>
          <p:cNvPr id="8" name="CuadroTexto 7"/>
          <p:cNvSpPr txBox="1"/>
          <p:nvPr/>
        </p:nvSpPr>
        <p:spPr>
          <a:xfrm>
            <a:off x="8665851" y="3794779"/>
            <a:ext cx="2817177" cy="12003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400" dirty="0" smtClean="0"/>
              <a:t>Relación con 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SCM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A/F</a:t>
            </a:r>
            <a:endParaRPr lang="es-ES" sz="2400" dirty="0"/>
          </a:p>
        </p:txBody>
      </p:sp>
      <p:sp>
        <p:nvSpPr>
          <p:cNvPr id="10" name="CuadroTexto 9"/>
          <p:cNvSpPr txBox="1"/>
          <p:nvPr/>
        </p:nvSpPr>
        <p:spPr>
          <a:xfrm>
            <a:off x="5023556" y="3965691"/>
            <a:ext cx="2004405" cy="46166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400" dirty="0" smtClean="0"/>
              <a:t>EMPLEADOS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53204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AREAS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FUNCIONALES(AF) Y PROCESOS DE NEGOCIO(PN) </a:t>
            </a:r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de una PYME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556551" y="2345018"/>
            <a:ext cx="9085905" cy="5847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3200" dirty="0" smtClean="0"/>
              <a:t>CONCLUSIONES</a:t>
            </a:r>
            <a:endParaRPr lang="es-ES" sz="3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1761672" y="3255191"/>
            <a:ext cx="8675665" cy="30469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3200" dirty="0" smtClean="0"/>
              <a:t>Una empresa tiene </a:t>
            </a:r>
            <a:r>
              <a:rPr lang="es-ES" sz="3200" dirty="0"/>
              <a:t>muchos procesos </a:t>
            </a:r>
            <a:r>
              <a:rPr lang="es-ES" sz="3200" dirty="0" smtClean="0"/>
              <a:t>de negocio, </a:t>
            </a:r>
          </a:p>
          <a:p>
            <a:r>
              <a:rPr lang="es-ES" sz="3200" dirty="0"/>
              <a:t>q</a:t>
            </a:r>
            <a:r>
              <a:rPr lang="es-ES" sz="3200" dirty="0" smtClean="0"/>
              <a:t>ue involucran </a:t>
            </a:r>
            <a:r>
              <a:rPr lang="es-ES" sz="3200" dirty="0"/>
              <a:t>actividades en más de un área funcional. </a:t>
            </a:r>
            <a:endParaRPr lang="es-ES" sz="3200" dirty="0" smtClean="0"/>
          </a:p>
          <a:p>
            <a:r>
              <a:rPr lang="es-ES" sz="3200" dirty="0" smtClean="0"/>
              <a:t>Esto supone compartir </a:t>
            </a:r>
            <a:r>
              <a:rPr lang="es-ES" sz="3200" dirty="0"/>
              <a:t>datos. </a:t>
            </a:r>
            <a:endParaRPr lang="es-ES" sz="3200" dirty="0" smtClean="0"/>
          </a:p>
          <a:p>
            <a:r>
              <a:rPr lang="es-ES" sz="3200" dirty="0" smtClean="0"/>
              <a:t>Los </a:t>
            </a:r>
            <a:r>
              <a:rPr lang="es-ES" sz="3200" dirty="0" err="1" smtClean="0"/>
              <a:t>ERPs</a:t>
            </a:r>
            <a:r>
              <a:rPr lang="es-ES" sz="3200" dirty="0" smtClean="0"/>
              <a:t> hacen que los SI estén integrados y compartan datos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245404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SISTEMAS DE INFORMACIÓN DE ÁREAS FUNCIONALES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2669923" y="2550118"/>
            <a:ext cx="6326661" cy="10772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Ejemplo de una PYME: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TIENDA DE ORDENADORES</a:t>
            </a:r>
            <a:endParaRPr lang="es-ES" sz="32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4266113" y="4193289"/>
            <a:ext cx="3134282" cy="15696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3200" dirty="0" smtClean="0"/>
              <a:t>Papel que juega la </a:t>
            </a:r>
          </a:p>
          <a:p>
            <a:pPr lvl="0" algn="ctr"/>
            <a:r>
              <a:rPr lang="es-ES" sz="3200" dirty="0" smtClean="0"/>
              <a:t>INFORMACIÓN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293789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SISTEMAS DE INFORMACIÓN DE ÁREAS FUNCIONALES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3520154" y="2019620"/>
            <a:ext cx="5011209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MARKETING Y VENTAS (M/S)</a:t>
            </a:r>
            <a:endParaRPr lang="es-ES" sz="3200" dirty="0"/>
          </a:p>
        </p:txBody>
      </p:sp>
      <p:sp>
        <p:nvSpPr>
          <p:cNvPr id="5" name="CuadroTexto 4"/>
          <p:cNvSpPr txBox="1"/>
          <p:nvPr/>
        </p:nvSpPr>
        <p:spPr>
          <a:xfrm>
            <a:off x="7905720" y="3483355"/>
            <a:ext cx="1481400" cy="175432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i="1" dirty="0" smtClean="0"/>
              <a:t>Intercambio de datos entre M/S con el cliente y el resto de </a:t>
            </a:r>
            <a:r>
              <a:rPr lang="es-ES" i="1" dirty="0" err="1" smtClean="0"/>
              <a:t>AFs</a:t>
            </a:r>
            <a:endParaRPr lang="es-ES" i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071" y="2796987"/>
            <a:ext cx="4900085" cy="35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3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SISTEMAS DE INFORMACIÓN DE ÁREAS FUNCIONALES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3520154" y="1971494"/>
            <a:ext cx="5011209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MARKETING Y VENTAS (M/S)</a:t>
            </a:r>
            <a:endParaRPr lang="es-ES" sz="3200" dirty="0"/>
          </a:p>
        </p:txBody>
      </p:sp>
      <p:sp>
        <p:nvSpPr>
          <p:cNvPr id="5" name="CuadroTexto 4"/>
          <p:cNvSpPr txBox="1"/>
          <p:nvPr/>
        </p:nvSpPr>
        <p:spPr>
          <a:xfrm>
            <a:off x="2274937" y="3277221"/>
            <a:ext cx="3115206" cy="304698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2400" dirty="0"/>
              <a:t>Datos de clientes.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2400" dirty="0"/>
              <a:t>Datos de pedidos.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2400" dirty="0"/>
              <a:t>Datos de tendencias de ventas.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2400" dirty="0"/>
              <a:t>Costo por unidad.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2400" dirty="0"/>
              <a:t>Política de la empresa sobre gastos de viajes</a:t>
            </a:r>
            <a:r>
              <a:rPr lang="es-ES" sz="2400" dirty="0" smtClean="0"/>
              <a:t>.</a:t>
            </a:r>
            <a:endParaRPr lang="es-ES" sz="2400" dirty="0"/>
          </a:p>
        </p:txBody>
      </p:sp>
      <p:sp>
        <p:nvSpPr>
          <p:cNvPr id="6" name="CuadroTexto 5"/>
          <p:cNvSpPr txBox="1"/>
          <p:nvPr/>
        </p:nvSpPr>
        <p:spPr>
          <a:xfrm>
            <a:off x="2847899" y="2678966"/>
            <a:ext cx="1969282" cy="46166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2400" i="1" dirty="0" smtClean="0"/>
              <a:t>ENTRADAS</a:t>
            </a:r>
            <a:endParaRPr lang="es-ES" sz="2400" i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6694533" y="3317327"/>
            <a:ext cx="3115206" cy="267765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2400" dirty="0"/>
              <a:t>Estrategias de ventas.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2400" dirty="0"/>
              <a:t>Establecer los precios de los productos.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2400" dirty="0"/>
              <a:t>Necesidades de nuevos empleos.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7267495" y="2719072"/>
            <a:ext cx="1969282" cy="46166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2400" i="1" dirty="0" smtClean="0"/>
              <a:t>SALIDAS</a:t>
            </a:r>
            <a:endParaRPr lang="es-ES" sz="2400" i="1" dirty="0"/>
          </a:p>
        </p:txBody>
      </p:sp>
    </p:spTree>
    <p:extLst>
      <p:ext uri="{BB962C8B-B14F-4D97-AF65-F5344CB8AC3E}">
        <p14:creationId xmlns:p14="http://schemas.microsoft.com/office/powerpoint/2010/main" val="85235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SISTEMAS DE INFORMACIÓN DE ÁREAS FUNCIONALES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413654" y="2082147"/>
            <a:ext cx="9224210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3200" dirty="0"/>
              <a:t>GESTIÓN DE LA CADENA DE SUMINISTRO (SCM)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985930" y="3483355"/>
            <a:ext cx="1481400" cy="203132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i="1" dirty="0" smtClean="0"/>
              <a:t>Intercambio de datos entre SCM y los proveedores y el resto de </a:t>
            </a:r>
            <a:r>
              <a:rPr lang="es-ES" i="1" dirty="0" err="1" smtClean="0"/>
              <a:t>AFs</a:t>
            </a:r>
            <a:endParaRPr lang="es-ES" i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233" y="2729449"/>
            <a:ext cx="5060118" cy="370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9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SISTEMAS DE INFORMACIÓN DE ÁREAS FUNCIONALES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203158" y="1971494"/>
            <a:ext cx="9432758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3200" dirty="0"/>
              <a:t>GESTIÓN DE LA CADENA DE SUMINISTRO (SCM)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138990" y="3292023"/>
            <a:ext cx="4924926" cy="230832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Datos de ventas de productos.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Planes de producción.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Niveles de inventario.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Políticas empresariales de despidos y retirada de productos del mercado. 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2751648" y="2668919"/>
            <a:ext cx="1969282" cy="46166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2400" i="1" dirty="0" smtClean="0"/>
              <a:t>ENTRADAS</a:t>
            </a:r>
            <a:endParaRPr lang="es-ES" sz="2400" i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6566196" y="3317327"/>
            <a:ext cx="4631194" cy="230832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Los pedidos de materias primas.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Los pedidos de empaquetado.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Los datos de gastos en recursos.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Los informes de producción e inventario.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La información de contratación.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7861049" y="2719072"/>
            <a:ext cx="1969282" cy="46166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2400" i="1" dirty="0" smtClean="0"/>
              <a:t>SALIDAS</a:t>
            </a:r>
            <a:endParaRPr lang="es-ES" sz="2400" i="1" dirty="0"/>
          </a:p>
        </p:txBody>
      </p:sp>
    </p:spTree>
    <p:extLst>
      <p:ext uri="{BB962C8B-B14F-4D97-AF65-F5344CB8AC3E}">
        <p14:creationId xmlns:p14="http://schemas.microsoft.com/office/powerpoint/2010/main" val="68035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SISTEMAS DE INFORMACIÓN DE ÁREAS FUNCIONALES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413654" y="2019620"/>
            <a:ext cx="9224210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3200" dirty="0"/>
              <a:t>CONTABILIDAD Y FINANZAS (A/F)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985930" y="3627733"/>
            <a:ext cx="1481400" cy="147732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i="1" dirty="0" smtClean="0"/>
              <a:t>Intercambio de datos entre A/F y el cliente y el resto de </a:t>
            </a:r>
            <a:r>
              <a:rPr lang="es-ES" i="1" dirty="0" err="1" smtClean="0"/>
              <a:t>AFs</a:t>
            </a:r>
            <a:endParaRPr lang="es-ES" i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406" y="2639576"/>
            <a:ext cx="5105842" cy="371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73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SISTEMAS DE INFORMACIÓN DE ÁREAS FUNCIONALES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203158" y="1971494"/>
            <a:ext cx="9432758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3200" dirty="0"/>
              <a:t>GESTIÓN DE LA CADENA DE SUMINISTRO (SCM)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273826" y="3693075"/>
            <a:ext cx="4924926" cy="230832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Pagos de los clientes.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Datos de cuentas deudoras.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Datos de cuentas acreedoras.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Datos de ventas.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Datos de producción e inventario.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Datos de nómina y gastos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2751648" y="2902513"/>
            <a:ext cx="1969282" cy="46166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2400" i="1" dirty="0" smtClean="0"/>
              <a:t>ENTRADAS</a:t>
            </a:r>
            <a:endParaRPr lang="es-ES" sz="2400" i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6690514" y="3738420"/>
            <a:ext cx="4631194" cy="120032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Pagos a proveedores.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Informes financieros.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Datos de crédito a clientes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7861049" y="2902513"/>
            <a:ext cx="1969282" cy="46166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2400" i="1" dirty="0" smtClean="0"/>
              <a:t>SALIDAS</a:t>
            </a:r>
            <a:endParaRPr lang="es-ES" sz="2400" i="1" dirty="0"/>
          </a:p>
        </p:txBody>
      </p:sp>
    </p:spTree>
    <p:extLst>
      <p:ext uri="{BB962C8B-B14F-4D97-AF65-F5344CB8AC3E}">
        <p14:creationId xmlns:p14="http://schemas.microsoft.com/office/powerpoint/2010/main" val="13423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SISTEMAS DE INFORMACIÓN DE ÁREAS FUNCIONALES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413654" y="2019620"/>
            <a:ext cx="8853293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3200" dirty="0"/>
              <a:t>RECURSOS HUMANOS (HR)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584877" y="3951781"/>
            <a:ext cx="1481400" cy="120032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i="1" dirty="0" smtClean="0"/>
              <a:t>Intercambio de datos entre HR y el resto de </a:t>
            </a:r>
            <a:r>
              <a:rPr lang="es-ES" i="1" dirty="0" err="1" smtClean="0"/>
              <a:t>AFs</a:t>
            </a:r>
            <a:endParaRPr lang="es-ES" i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667" y="2852537"/>
            <a:ext cx="3840813" cy="339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38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SISTEMAS DE INFORMACIÓN DE ÁREAS FUNCIONALES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203158" y="1971494"/>
            <a:ext cx="9432758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3200" dirty="0"/>
              <a:t>GESTIÓN DE LA CADENA DE SUMINISTRO (SCM)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203158" y="3710422"/>
            <a:ext cx="4283242" cy="120032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2400" dirty="0"/>
              <a:t>Previsión de necesidades de personal.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Datos sobre habilidades. 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2751648" y="2902513"/>
            <a:ext cx="1969282" cy="46166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2400" i="1" dirty="0" smtClean="0"/>
              <a:t>ENTRADAS</a:t>
            </a:r>
            <a:endParaRPr lang="es-ES" sz="2400" i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6530093" y="3571923"/>
            <a:ext cx="4631194" cy="267765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Cumplimiento con la regulación vigente.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Formación y certificación de los empleados.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400" dirty="0"/>
              <a:t>Base de datos de habilidades.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Evaluación de empleados e indemnizaciones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7861049" y="2902513"/>
            <a:ext cx="1969282" cy="46166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2400" i="1" dirty="0" smtClean="0"/>
              <a:t>SALIDAS</a:t>
            </a:r>
            <a:endParaRPr lang="es-ES" sz="2400" i="1" dirty="0"/>
          </a:p>
        </p:txBody>
      </p:sp>
    </p:spTree>
    <p:extLst>
      <p:ext uri="{BB962C8B-B14F-4D97-AF65-F5344CB8AC3E}">
        <p14:creationId xmlns:p14="http://schemas.microsoft.com/office/powerpoint/2010/main" val="383668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AREAS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FUNCIONALES(AF) Y PROCESOS DE NEGOCIO(PN) </a:t>
            </a:r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de una PYME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556551" y="2345018"/>
            <a:ext cx="9085905" cy="5847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3200" dirty="0" smtClean="0"/>
              <a:t>CONCLUSIONES</a:t>
            </a:r>
            <a:endParaRPr lang="es-ES" sz="3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1761672" y="3255191"/>
            <a:ext cx="8675665" cy="30469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3200" dirty="0" smtClean="0"/>
              <a:t>Se comparten muchos datos (E/S) entre áreas funcionales.</a:t>
            </a:r>
          </a:p>
          <a:p>
            <a:r>
              <a:rPr lang="es-ES" sz="3200" dirty="0" smtClean="0"/>
              <a:t>El éxito de la empresa está en la precisión y puntualidad de los datos (disponibilidad).</a:t>
            </a:r>
          </a:p>
          <a:p>
            <a:r>
              <a:rPr lang="es-ES" sz="3200" dirty="0" smtClean="0"/>
              <a:t>Los </a:t>
            </a:r>
            <a:r>
              <a:rPr lang="es-ES" sz="3200" dirty="0" err="1" smtClean="0"/>
              <a:t>ERPs</a:t>
            </a:r>
            <a:r>
              <a:rPr lang="es-ES" sz="3200" dirty="0" smtClean="0"/>
              <a:t> permiten que todas las </a:t>
            </a:r>
            <a:r>
              <a:rPr lang="es-ES" sz="3200" dirty="0" err="1" smtClean="0"/>
              <a:t>Afs</a:t>
            </a:r>
            <a:r>
              <a:rPr lang="es-ES" sz="3200" dirty="0" smtClean="0"/>
              <a:t> compartan un BBDD común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6723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NOTACIÓN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PARA LA GESTIÓN DE PROCESOS DE NEGOCIO (BPMN</a:t>
            </a:r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) 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994610" y="2186961"/>
            <a:ext cx="5694948" cy="403187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BPMN (</a:t>
            </a:r>
            <a:r>
              <a:rPr lang="es-ES" b="1" i="1" dirty="0"/>
              <a:t>Business </a:t>
            </a:r>
            <a:r>
              <a:rPr lang="es-ES" b="1" i="1" dirty="0" err="1"/>
              <a:t>Process</a:t>
            </a:r>
            <a:r>
              <a:rPr lang="es-ES" b="1" i="1" dirty="0"/>
              <a:t> </a:t>
            </a:r>
            <a:r>
              <a:rPr lang="es-ES" b="1" i="1" dirty="0" err="1"/>
              <a:t>Modeling</a:t>
            </a:r>
            <a:r>
              <a:rPr lang="es-ES" b="1" i="1" dirty="0"/>
              <a:t> </a:t>
            </a:r>
            <a:r>
              <a:rPr lang="es-ES" b="1" i="1" dirty="0" err="1"/>
              <a:t>Notation</a:t>
            </a:r>
            <a:r>
              <a:rPr lang="es-ES" b="1" i="1" dirty="0"/>
              <a:t> </a:t>
            </a:r>
            <a:r>
              <a:rPr lang="es-ES" b="1" i="1" dirty="0" smtClean="0"/>
              <a:t>)</a:t>
            </a:r>
            <a:r>
              <a:rPr lang="es-ES" sz="3200" dirty="0" smtClean="0"/>
              <a:t>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/>
              <a:t>N</a:t>
            </a:r>
            <a:r>
              <a:rPr lang="es-ES" sz="3200" dirty="0" smtClean="0"/>
              <a:t>otación </a:t>
            </a:r>
            <a:r>
              <a:rPr lang="es-ES" sz="3200" dirty="0"/>
              <a:t>que describe la lógica de los pasos en un proceso de </a:t>
            </a:r>
            <a:r>
              <a:rPr lang="es-ES" sz="3200" dirty="0" smtClean="0"/>
              <a:t>negocio (participantes y actividades que intervienen)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Es un ESTANDAR que sirve para “modelar” procesos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7277043" y="3011424"/>
            <a:ext cx="3968472" cy="206210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s-ES" sz="3200" dirty="0" smtClean="0"/>
              <a:t>BPD (</a:t>
            </a:r>
            <a:r>
              <a:rPr lang="es-ES" b="1" i="1" dirty="0"/>
              <a:t>Business </a:t>
            </a:r>
            <a:r>
              <a:rPr lang="es-ES" b="1" i="1" dirty="0" err="1"/>
              <a:t>Process</a:t>
            </a:r>
            <a:r>
              <a:rPr lang="es-ES" b="1" i="1" dirty="0"/>
              <a:t> </a:t>
            </a:r>
            <a:r>
              <a:rPr lang="es-ES" b="1" i="1" dirty="0" err="1"/>
              <a:t>Diagram</a:t>
            </a:r>
            <a:r>
              <a:rPr lang="es-ES" b="1" i="1" dirty="0"/>
              <a:t> </a:t>
            </a:r>
            <a:r>
              <a:rPr lang="es-ES" b="1" i="1" dirty="0" smtClean="0"/>
              <a:t>):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ES" sz="3200" dirty="0" smtClean="0"/>
              <a:t>Diagrama de procesos de negocio</a:t>
            </a:r>
          </a:p>
        </p:txBody>
      </p:sp>
    </p:spTree>
    <p:extLst>
      <p:ext uri="{BB962C8B-B14F-4D97-AF65-F5344CB8AC3E}">
        <p14:creationId xmlns:p14="http://schemas.microsoft.com/office/powerpoint/2010/main" val="204694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NOTACIÓN </a:t>
            </a:r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PARA LA GESTIÓN DE PROCESOS DE NEGOCIO (BPMN</a:t>
            </a:r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) 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05" y="1806182"/>
            <a:ext cx="7924800" cy="4613143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8979681" y="2863731"/>
            <a:ext cx="1633818" cy="14773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b="1" dirty="0"/>
              <a:t>Proceso de solicitud de un crédito modelado con BPMN.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149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24944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BIZAGI</a:t>
            </a:r>
          </a:p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PLATAFORMA de NEGOCIOS DIGITAL 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976" y="1762948"/>
            <a:ext cx="6828112" cy="1828958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136030" y="3668573"/>
            <a:ext cx="9965107" cy="5847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3200" dirty="0" smtClean="0"/>
              <a:t>Introducción</a:t>
            </a:r>
            <a:endParaRPr lang="es-ES" sz="3200" dirty="0"/>
          </a:p>
        </p:txBody>
      </p:sp>
      <p:sp>
        <p:nvSpPr>
          <p:cNvPr id="7" name="CuadroTexto 6"/>
          <p:cNvSpPr txBox="1"/>
          <p:nvPr/>
        </p:nvSpPr>
        <p:spPr>
          <a:xfrm>
            <a:off x="967587" y="4330015"/>
            <a:ext cx="10301991" cy="19389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400" dirty="0" smtClean="0"/>
              <a:t>Automatización rápida de procesos en una empresa</a:t>
            </a:r>
          </a:p>
          <a:p>
            <a:r>
              <a:rPr lang="es-ES" sz="2400" dirty="0" smtClean="0"/>
              <a:t>3 herramientas: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err="1" smtClean="0"/>
              <a:t>Modeler</a:t>
            </a:r>
            <a:r>
              <a:rPr lang="es-ES" sz="2400" dirty="0" smtClean="0"/>
              <a:t> : Entorno para modelar procesos de negocio con la notación BPMN.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smtClean="0"/>
              <a:t>Studio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 err="1" smtClean="0"/>
              <a:t>Automation</a:t>
            </a:r>
            <a:r>
              <a:rPr lang="es-ES" sz="2400" dirty="0" smtClean="0"/>
              <a:t> </a:t>
            </a:r>
            <a:r>
              <a:rPr lang="es-ES" sz="2400" dirty="0" err="1" smtClean="0"/>
              <a:t>serrver</a:t>
            </a:r>
            <a:r>
              <a:rPr lang="es-ES" sz="2400" dirty="0" smtClean="0"/>
              <a:t>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639806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BIZAGI</a:t>
            </a:r>
          </a:p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PLATAFORMA de NEGOCIOS DIGITAL 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043204" y="2019620"/>
            <a:ext cx="9965107" cy="5847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3200" dirty="0" smtClean="0"/>
              <a:t>Modelar - Construir - Ejecutar</a:t>
            </a:r>
            <a:endParaRPr lang="es-ES" sz="3200" dirty="0"/>
          </a:p>
        </p:txBody>
      </p:sp>
      <p:sp>
        <p:nvSpPr>
          <p:cNvPr id="7" name="CuadroTexto 6"/>
          <p:cNvSpPr txBox="1"/>
          <p:nvPr/>
        </p:nvSpPr>
        <p:spPr>
          <a:xfrm>
            <a:off x="1043204" y="2836742"/>
            <a:ext cx="9965107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400" dirty="0" err="1" smtClean="0"/>
              <a:t>Bizagi</a:t>
            </a:r>
            <a:r>
              <a:rPr lang="es-ES" sz="2400" dirty="0" smtClean="0"/>
              <a:t> maneja todo el Ciclo de vida de los procesos de una organización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183217" y="3730004"/>
            <a:ext cx="2715016" cy="18158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ES" sz="4000" b="1" dirty="0" smtClean="0"/>
              <a:t>1er paso</a:t>
            </a:r>
          </a:p>
          <a:p>
            <a:pPr algn="ctr"/>
            <a:r>
              <a:rPr lang="es-ES" b="1" dirty="0" smtClean="0"/>
              <a:t>Diseñar el flujo de un proceso; es decir, la cadena de actividades del proceso</a:t>
            </a:r>
            <a:endParaRPr lang="es-ES" dirty="0"/>
          </a:p>
        </p:txBody>
      </p:sp>
      <p:sp>
        <p:nvSpPr>
          <p:cNvPr id="9" name="Rectángulo 8"/>
          <p:cNvSpPr/>
          <p:nvPr/>
        </p:nvSpPr>
        <p:spPr>
          <a:xfrm>
            <a:off x="4668249" y="3982243"/>
            <a:ext cx="2715016" cy="132343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ES" sz="4000" b="1" dirty="0" smtClean="0"/>
              <a:t>Diagramas de flujo</a:t>
            </a:r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8293295" y="3982243"/>
            <a:ext cx="2715016" cy="132343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ES" sz="4000" b="1" dirty="0" smtClean="0"/>
              <a:t>Documentación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00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BIZAGI</a:t>
            </a:r>
          </a:p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PLATAFORMA de NEGOCIOS DIGITAL 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043204" y="2019620"/>
            <a:ext cx="9965107" cy="5847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3200" dirty="0" smtClean="0"/>
              <a:t>Productos relacionados</a:t>
            </a:r>
            <a:endParaRPr lang="es-ES" sz="3200" dirty="0"/>
          </a:p>
        </p:txBody>
      </p:sp>
      <p:sp>
        <p:nvSpPr>
          <p:cNvPr id="9" name="Rectángulo 8"/>
          <p:cNvSpPr/>
          <p:nvPr/>
        </p:nvSpPr>
        <p:spPr>
          <a:xfrm>
            <a:off x="1043676" y="3117741"/>
            <a:ext cx="4299289" cy="28931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ES" sz="3200" b="1" dirty="0" smtClean="0"/>
              <a:t>Descargar </a:t>
            </a:r>
            <a:r>
              <a:rPr lang="es-ES" sz="3200" b="1" dirty="0" err="1" smtClean="0"/>
              <a:t>Bizagi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Modeler</a:t>
            </a:r>
            <a:endParaRPr lang="es-ES" sz="3200" b="1" dirty="0" smtClean="0"/>
          </a:p>
          <a:p>
            <a:pPr algn="ctr"/>
            <a:endParaRPr lang="es-ES" sz="2800" b="1" dirty="0" smtClean="0"/>
          </a:p>
          <a:p>
            <a:pPr algn="ctr"/>
            <a:r>
              <a:rPr lang="es-ES" sz="2400" b="1" dirty="0"/>
              <a:t>https://www.bizagi.com/es/plataforma/modeler#modeler-down1</a:t>
            </a:r>
          </a:p>
          <a:p>
            <a:pPr algn="ctr"/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200" y="2833489"/>
            <a:ext cx="3688400" cy="3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677666" y="2786880"/>
            <a:ext cx="261096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BIZAGI</a:t>
            </a:r>
          </a:p>
          <a:p>
            <a:pPr algn="ctr"/>
            <a:r>
              <a:rPr lang="es-ES" sz="3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MODELER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225" y="573070"/>
            <a:ext cx="8147175" cy="586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69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1043204" y="2067746"/>
            <a:ext cx="9965107" cy="5847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3200" dirty="0" smtClean="0"/>
              <a:t>Entrenamiento y Soporte</a:t>
            </a:r>
            <a:endParaRPr lang="es-ES" sz="3200" dirty="0"/>
          </a:p>
        </p:txBody>
      </p:sp>
      <p:sp>
        <p:nvSpPr>
          <p:cNvPr id="6" name="Rectángulo 5"/>
          <p:cNvSpPr/>
          <p:nvPr/>
        </p:nvSpPr>
        <p:spPr>
          <a:xfrm>
            <a:off x="1043676" y="3069615"/>
            <a:ext cx="4299289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ES" sz="3200" b="1" dirty="0" smtClean="0"/>
              <a:t>ELEARNING</a:t>
            </a:r>
          </a:p>
          <a:p>
            <a:pPr algn="ctr"/>
            <a:endParaRPr lang="es-ES" sz="2800" b="1" dirty="0" smtClean="0"/>
          </a:p>
          <a:p>
            <a:pPr algn="ctr"/>
            <a:r>
              <a:rPr lang="es-ES" sz="2400" b="1" dirty="0"/>
              <a:t>https://elearning.bizagi.com/my/</a:t>
            </a:r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BIZAGI</a:t>
            </a:r>
          </a:p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PLATAFORMA de NEGOCIOS DIGITAL 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999" y="2845026"/>
            <a:ext cx="2402070" cy="344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8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1043204" y="2067746"/>
            <a:ext cx="9965107" cy="5847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s-ES" sz="3200" dirty="0" smtClean="0"/>
              <a:t>Entrenamiento y Soporte</a:t>
            </a:r>
            <a:endParaRPr lang="es-ES" sz="3200" dirty="0"/>
          </a:p>
        </p:txBody>
      </p:sp>
      <p:sp>
        <p:nvSpPr>
          <p:cNvPr id="6" name="Rectángulo 5"/>
          <p:cNvSpPr/>
          <p:nvPr/>
        </p:nvSpPr>
        <p:spPr>
          <a:xfrm>
            <a:off x="1043676" y="3069615"/>
            <a:ext cx="4299289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ES" sz="3200" b="1" dirty="0" smtClean="0"/>
              <a:t>ELEARNING</a:t>
            </a:r>
          </a:p>
          <a:p>
            <a:pPr algn="ctr"/>
            <a:endParaRPr lang="es-ES" sz="2800" b="1" dirty="0" smtClean="0"/>
          </a:p>
          <a:p>
            <a:pPr algn="ctr"/>
            <a:r>
              <a:rPr lang="es-ES" sz="2400" b="1" dirty="0"/>
              <a:t>https://www.bizagi.com/es/plataforma/modeler/</a:t>
            </a:r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597455" y="573070"/>
            <a:ext cx="1085660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BIZAGI</a:t>
            </a:r>
          </a:p>
          <a:p>
            <a:pPr algn="ctr"/>
            <a:r>
              <a:rPr lang="es-ES" sz="4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PLATAFORMA de NEGOCIOS DIGITAL </a:t>
            </a:r>
            <a:endParaRPr lang="es-E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178" y="2700647"/>
            <a:ext cx="2728196" cy="37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0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5AAA4C9-C5AE-4510-B2FA-99960807AEEC}"/>
              </a:ext>
            </a:extLst>
          </p:cNvPr>
          <p:cNvSpPr/>
          <p:nvPr/>
        </p:nvSpPr>
        <p:spPr>
          <a:xfrm>
            <a:off x="3938695" y="5098361"/>
            <a:ext cx="350955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Eskerrik</a:t>
            </a:r>
            <a:r>
              <a:rPr lang="es-E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es-E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Asko</a:t>
            </a:r>
            <a:r>
              <a:rPr lang="es-E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!!!</a:t>
            </a:r>
          </a:p>
        </p:txBody>
      </p:sp>
      <p:sp>
        <p:nvSpPr>
          <p:cNvPr id="25" name="Oval 154">
            <a:extLst>
              <a:ext uri="{FF2B5EF4-FFF2-40B4-BE49-F238E27FC236}">
                <a16:creationId xmlns:a16="http://schemas.microsoft.com/office/drawing/2014/main" id="{FB2D0472-250F-4E0D-AB1C-BA1205F6C346}"/>
              </a:ext>
            </a:extLst>
          </p:cNvPr>
          <p:cNvSpPr/>
          <p:nvPr/>
        </p:nvSpPr>
        <p:spPr>
          <a:xfrm>
            <a:off x="4102727" y="1469009"/>
            <a:ext cx="3117876" cy="31178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1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155">
            <a:extLst>
              <a:ext uri="{FF2B5EF4-FFF2-40B4-BE49-F238E27FC236}">
                <a16:creationId xmlns:a16="http://schemas.microsoft.com/office/drawing/2014/main" id="{645403C8-A4CB-4DDA-8639-98294095D2AA}"/>
              </a:ext>
            </a:extLst>
          </p:cNvPr>
          <p:cNvSpPr/>
          <p:nvPr/>
        </p:nvSpPr>
        <p:spPr>
          <a:xfrm>
            <a:off x="4473493" y="1810215"/>
            <a:ext cx="2439954" cy="2439954"/>
          </a:xfrm>
          <a:prstGeom prst="ellipse">
            <a:avLst/>
          </a:prstGeom>
          <a:solidFill>
            <a:srgbClr val="0070C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156">
            <a:extLst>
              <a:ext uri="{FF2B5EF4-FFF2-40B4-BE49-F238E27FC236}">
                <a16:creationId xmlns:a16="http://schemas.microsoft.com/office/drawing/2014/main" id="{7726ECB5-1D3B-4C9B-9125-499BF8567D10}"/>
              </a:ext>
            </a:extLst>
          </p:cNvPr>
          <p:cNvSpPr/>
          <p:nvPr/>
        </p:nvSpPr>
        <p:spPr>
          <a:xfrm>
            <a:off x="4689937" y="2046330"/>
            <a:ext cx="2007624" cy="2007624"/>
          </a:xfrm>
          <a:prstGeom prst="ellipse">
            <a:avLst/>
          </a:prstGeom>
          <a:solidFill>
            <a:srgbClr val="F0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Imagen 21">
            <a:extLst>
              <a:ext uri="{FF2B5EF4-FFF2-40B4-BE49-F238E27FC236}">
                <a16:creationId xmlns:a16="http://schemas.microsoft.com/office/drawing/2014/main" id="{1803594E-F0F9-444A-AFE8-0ED43AE181C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377" y="2354791"/>
            <a:ext cx="1659502" cy="132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12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5" grpId="0" animBg="1"/>
      <p:bldP spid="26" grpId="0" animBg="1"/>
      <p:bldP spid="27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4573</TotalTime>
  <Words>1052</Words>
  <Application>Microsoft Office PowerPoint</Application>
  <PresentationFormat>Panorámica</PresentationFormat>
  <Paragraphs>212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Txema</cp:lastModifiedBy>
  <cp:revision>193</cp:revision>
  <dcterms:created xsi:type="dcterms:W3CDTF">2020-11-06T08:03:53Z</dcterms:created>
  <dcterms:modified xsi:type="dcterms:W3CDTF">2022-10-03T16:28:30Z</dcterms:modified>
</cp:coreProperties>
</file>