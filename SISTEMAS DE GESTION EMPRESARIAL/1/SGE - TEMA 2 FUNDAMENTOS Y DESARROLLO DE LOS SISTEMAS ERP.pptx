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45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349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A74C"/>
    <a:srgbClr val="F47F0A"/>
    <a:srgbClr val="0070C0"/>
    <a:srgbClr val="0094C8"/>
    <a:srgbClr val="0060AD"/>
    <a:srgbClr val="008080"/>
    <a:srgbClr val="CCCC00"/>
    <a:srgbClr val="9E520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5" autoAdjust="0"/>
  </p:normalViewPr>
  <p:slideViewPr>
    <p:cSldViewPr snapToGrid="0" showGuides="1">
      <p:cViewPr varScale="1">
        <p:scale>
          <a:sx n="52" d="100"/>
          <a:sy n="52" d="100"/>
        </p:scale>
        <p:origin x="58" y="691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ED5D0-FFDB-4991-9FE3-9207D3A4FA44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A7B65-EB48-4F80-9F0F-1E2999BE94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959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20559-1600-4D0F-83A4-B881F8749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70F42-DE36-474F-B009-89D278431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0202DE-4B2B-4582-A689-95088949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E005C7-F86D-47D1-9E9A-FF6E209F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B21433-4632-4018-A803-2E65387A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42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2F63C-7285-44DE-A205-AEBB12D4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C1510-13F8-4D65-A206-01DC2FA1C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505F1A-50CD-4F90-BC33-03A557E9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C16EB2-C9EB-4ACC-A7F9-D5E64E52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EF105-2897-4F5D-82AB-263E36BD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066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AC1D0-3B07-4378-BF9B-241CA04B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51BEE-F782-4C17-902D-5F23B80EE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EB7AFD-DB1B-4280-A295-575A1A5B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C1D72-E0C7-4851-A2DD-095E26CB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FCD692-6CA1-427C-9470-7B00B42A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66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6B21A-2855-4DB7-A7CB-525F134F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DCA4F4-7583-45A1-9D06-6D913C62F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B6D0ED-88DD-4E7A-AE77-E588240F2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B63F3B-B68C-4773-89B6-8C8329B1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8F9E27-01BE-4C1E-8F1E-3C6B63C8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6B68A9-9132-4B41-B470-5FE40C5F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168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B986E-F4CA-4731-9D08-1A4F29FA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0B3E2E-6F26-4A6F-873D-D519DBAEA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F39A3-A191-4A9A-9C48-B0C3FA469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ECC318-19D5-404E-8546-EAFB78923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BDEE5E-D0BF-4665-9B2B-76AE050E7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998C4A-7B04-478A-9F21-2A2B41A8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B5AF70-9540-42DB-B7C9-B98D838B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D05632E-97A3-4A2A-9148-7A358965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59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887FE-7C2F-4744-A11F-332E0E79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8667CA-7FD8-4675-8842-E2F82D90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508977-7D61-40A8-8F62-AB8A944F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40863F-4ACC-494F-9113-500B90FF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41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F965AE2-E745-4AC5-8268-142C08A3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843EDA-AFBA-4F24-9A61-32E5E391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9DC409-3B97-47D1-87B5-87B559C8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664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90111-7047-44DD-82AC-CEF26223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00E0B-6E83-40F2-BE2A-1D23B8E40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C2888A-995D-42B4-B1B4-E1DF4E870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90A64D-3427-4465-B59B-2A1D376A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E729AD-18E4-4C00-BFD3-65BA1A4F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435DB5-C5A3-4D94-9F2E-CDE7B77F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24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05C89-A652-4174-A475-84E95CF0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3EAC3A-18D1-47BD-BBA0-E3B1F556F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29AE27-3177-4D5D-9A6F-72DDE26CE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7AB07E-8DF8-4FC4-9E9E-5C05B337A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ABA3D-1B42-4476-AAD6-7D44AC0B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FBFCFC-504B-452C-AD76-E2F06CAF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477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BDC14-BD18-4E8A-AA1E-1222E414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4E3E52-4239-41D1-88BA-82ABA8398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3453E7-6882-466E-9153-C7473516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54C12-B262-4793-BC78-C19F829D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C21B9-B8B2-4769-AE1B-ADA3C895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77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BFCE7E-DC64-43EF-8E4F-36A71DC0D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6A2FA1-1909-4B3B-BE3D-40B26D29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80A1D4-8E31-4D30-969F-2ABC07F3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3D8E41-C054-4D91-B779-936CA5B7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0632A-F15A-47FB-BFCC-F45C97F8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75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DC1E45-1F0F-4345-B7EA-061CCE35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B8A302-74AA-4AF9-8E7D-909B7640F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714C2-F396-4A20-8D16-847C95F42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BE01F5-5DE8-43FE-870D-7C45F86A0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05EAD-E7A5-4504-A11A-3679B8BDC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48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F2E4F364-5B72-4F1A-AF82-35CF5AC9885D}"/>
              </a:ext>
            </a:extLst>
          </p:cNvPr>
          <p:cNvSpPr/>
          <p:nvPr/>
        </p:nvSpPr>
        <p:spPr>
          <a:xfrm>
            <a:off x="434107" y="387928"/>
            <a:ext cx="11425383" cy="6082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C86D67F9-845D-4A9E-96B6-3D559F481FAB}"/>
              </a:ext>
            </a:extLst>
          </p:cNvPr>
          <p:cNvSpPr/>
          <p:nvPr/>
        </p:nvSpPr>
        <p:spPr>
          <a:xfrm>
            <a:off x="434108" y="387928"/>
            <a:ext cx="4920317" cy="5379817"/>
          </a:xfrm>
          <a:custGeom>
            <a:avLst/>
            <a:gdLst>
              <a:gd name="connsiteX0" fmla="*/ 0 w 4920317"/>
              <a:gd name="connsiteY0" fmla="*/ 0 h 5379817"/>
              <a:gd name="connsiteX1" fmla="*/ 4302156 w 4920317"/>
              <a:gd name="connsiteY1" fmla="*/ 0 h 5379817"/>
              <a:gd name="connsiteX2" fmla="*/ 4364488 w 4920317"/>
              <a:gd name="connsiteY2" fmla="*/ 84161 h 5379817"/>
              <a:gd name="connsiteX3" fmla="*/ 4920317 w 4920317"/>
              <a:gd name="connsiteY3" fmla="*/ 1844093 h 5379817"/>
              <a:gd name="connsiteX4" fmla="*/ 725015 w 4920317"/>
              <a:gd name="connsiteY4" fmla="*/ 5379817 h 5379817"/>
              <a:gd name="connsiteX5" fmla="*/ 296069 w 4920317"/>
              <a:gd name="connsiteY5" fmla="*/ 5361562 h 5379817"/>
              <a:gd name="connsiteX6" fmla="*/ 0 w 4920317"/>
              <a:gd name="connsiteY6" fmla="*/ 5323481 h 537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20317" h="5379817">
                <a:moveTo>
                  <a:pt x="0" y="0"/>
                </a:moveTo>
                <a:lnTo>
                  <a:pt x="4302156" y="0"/>
                </a:lnTo>
                <a:lnTo>
                  <a:pt x="4364488" y="84161"/>
                </a:lnTo>
                <a:cubicBezTo>
                  <a:pt x="4718089" y="602424"/>
                  <a:pt x="4920317" y="1203354"/>
                  <a:pt x="4920317" y="1844093"/>
                </a:cubicBezTo>
                <a:cubicBezTo>
                  <a:pt x="4920317" y="3796820"/>
                  <a:pt x="3042016" y="5379817"/>
                  <a:pt x="725015" y="5379817"/>
                </a:cubicBezTo>
                <a:cubicBezTo>
                  <a:pt x="580202" y="5379817"/>
                  <a:pt x="437104" y="5373634"/>
                  <a:pt x="296069" y="5361562"/>
                </a:cubicBezTo>
                <a:lnTo>
                  <a:pt x="0" y="5323481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B0D580A4-CA7C-4FD6-977A-9E6E10475AD9}"/>
              </a:ext>
            </a:extLst>
          </p:cNvPr>
          <p:cNvSpPr/>
          <p:nvPr/>
        </p:nvSpPr>
        <p:spPr>
          <a:xfrm>
            <a:off x="434108" y="387928"/>
            <a:ext cx="2789383" cy="3563361"/>
          </a:xfrm>
          <a:custGeom>
            <a:avLst/>
            <a:gdLst>
              <a:gd name="connsiteX0" fmla="*/ 0 w 2789383"/>
              <a:gd name="connsiteY0" fmla="*/ 0 h 3563361"/>
              <a:gd name="connsiteX1" fmla="*/ 2254846 w 2789383"/>
              <a:gd name="connsiteY1" fmla="*/ 0 h 3563361"/>
              <a:gd name="connsiteX2" fmla="*/ 2383196 w 2789383"/>
              <a:gd name="connsiteY2" fmla="*/ 157642 h 3563361"/>
              <a:gd name="connsiteX3" fmla="*/ 2789383 w 2789383"/>
              <a:gd name="connsiteY3" fmla="*/ 1378961 h 3563361"/>
              <a:gd name="connsiteX4" fmla="*/ 411019 w 2789383"/>
              <a:gd name="connsiteY4" fmla="*/ 3563361 h 3563361"/>
              <a:gd name="connsiteX5" fmla="*/ 167845 w 2789383"/>
              <a:gd name="connsiteY5" fmla="*/ 3552083 h 3563361"/>
              <a:gd name="connsiteX6" fmla="*/ 0 w 2789383"/>
              <a:gd name="connsiteY6" fmla="*/ 3528556 h 356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383" h="3563361">
                <a:moveTo>
                  <a:pt x="0" y="0"/>
                </a:moveTo>
                <a:lnTo>
                  <a:pt x="2254846" y="0"/>
                </a:lnTo>
                <a:lnTo>
                  <a:pt x="2383196" y="157642"/>
                </a:lnTo>
                <a:cubicBezTo>
                  <a:pt x="2639642" y="506275"/>
                  <a:pt x="2789383" y="926557"/>
                  <a:pt x="2789383" y="1378961"/>
                </a:cubicBezTo>
                <a:cubicBezTo>
                  <a:pt x="2789383" y="2585372"/>
                  <a:pt x="1724553" y="3563361"/>
                  <a:pt x="411019" y="3563361"/>
                </a:cubicBezTo>
                <a:cubicBezTo>
                  <a:pt x="328923" y="3563361"/>
                  <a:pt x="247799" y="3559541"/>
                  <a:pt x="167845" y="3552083"/>
                </a:cubicBezTo>
                <a:lnTo>
                  <a:pt x="0" y="3528556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D9BDB6F-1964-46D2-8C6E-79082BBC523A}"/>
              </a:ext>
            </a:extLst>
          </p:cNvPr>
          <p:cNvGrpSpPr/>
          <p:nvPr/>
        </p:nvGrpSpPr>
        <p:grpSpPr>
          <a:xfrm rot="10800000">
            <a:off x="9929244" y="4359563"/>
            <a:ext cx="1930246" cy="2110508"/>
            <a:chOff x="6257636" y="1261380"/>
            <a:chExt cx="4920317" cy="537981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65D294E6-622A-4A59-806C-489FEF1C2886}"/>
                </a:ext>
              </a:extLst>
            </p:cNvPr>
            <p:cNvSpPr/>
            <p:nvPr/>
          </p:nvSpPr>
          <p:spPr>
            <a:xfrm>
              <a:off x="6257636" y="1261380"/>
              <a:ext cx="4920317" cy="5379817"/>
            </a:xfrm>
            <a:custGeom>
              <a:avLst/>
              <a:gdLst>
                <a:gd name="connsiteX0" fmla="*/ 0 w 4920317"/>
                <a:gd name="connsiteY0" fmla="*/ 0 h 5379817"/>
                <a:gd name="connsiteX1" fmla="*/ 4302156 w 4920317"/>
                <a:gd name="connsiteY1" fmla="*/ 0 h 5379817"/>
                <a:gd name="connsiteX2" fmla="*/ 4364488 w 4920317"/>
                <a:gd name="connsiteY2" fmla="*/ 84161 h 5379817"/>
                <a:gd name="connsiteX3" fmla="*/ 4920317 w 4920317"/>
                <a:gd name="connsiteY3" fmla="*/ 1844093 h 5379817"/>
                <a:gd name="connsiteX4" fmla="*/ 725015 w 4920317"/>
                <a:gd name="connsiteY4" fmla="*/ 5379817 h 5379817"/>
                <a:gd name="connsiteX5" fmla="*/ 296069 w 4920317"/>
                <a:gd name="connsiteY5" fmla="*/ 5361562 h 5379817"/>
                <a:gd name="connsiteX6" fmla="*/ 0 w 4920317"/>
                <a:gd name="connsiteY6" fmla="*/ 5323481 h 537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20317" h="5379817">
                  <a:moveTo>
                    <a:pt x="0" y="0"/>
                  </a:moveTo>
                  <a:lnTo>
                    <a:pt x="4302156" y="0"/>
                  </a:lnTo>
                  <a:lnTo>
                    <a:pt x="4364488" y="84161"/>
                  </a:lnTo>
                  <a:cubicBezTo>
                    <a:pt x="4718089" y="602424"/>
                    <a:pt x="4920317" y="1203354"/>
                    <a:pt x="4920317" y="1844093"/>
                  </a:cubicBezTo>
                  <a:cubicBezTo>
                    <a:pt x="4920317" y="3796820"/>
                    <a:pt x="3042016" y="5379817"/>
                    <a:pt x="725015" y="5379817"/>
                  </a:cubicBezTo>
                  <a:cubicBezTo>
                    <a:pt x="580202" y="5379817"/>
                    <a:pt x="437104" y="5373634"/>
                    <a:pt x="296069" y="5361562"/>
                  </a:cubicBezTo>
                  <a:lnTo>
                    <a:pt x="0" y="5323481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2DCA5B2D-84A8-40BF-BAAB-F64C46B7D17D}"/>
                </a:ext>
              </a:extLst>
            </p:cNvPr>
            <p:cNvSpPr/>
            <p:nvPr/>
          </p:nvSpPr>
          <p:spPr>
            <a:xfrm>
              <a:off x="6257636" y="1261380"/>
              <a:ext cx="2789383" cy="3563361"/>
            </a:xfrm>
            <a:custGeom>
              <a:avLst/>
              <a:gdLst>
                <a:gd name="connsiteX0" fmla="*/ 0 w 2789383"/>
                <a:gd name="connsiteY0" fmla="*/ 0 h 3563361"/>
                <a:gd name="connsiteX1" fmla="*/ 2254846 w 2789383"/>
                <a:gd name="connsiteY1" fmla="*/ 0 h 3563361"/>
                <a:gd name="connsiteX2" fmla="*/ 2383196 w 2789383"/>
                <a:gd name="connsiteY2" fmla="*/ 157642 h 3563361"/>
                <a:gd name="connsiteX3" fmla="*/ 2789383 w 2789383"/>
                <a:gd name="connsiteY3" fmla="*/ 1378961 h 3563361"/>
                <a:gd name="connsiteX4" fmla="*/ 411019 w 2789383"/>
                <a:gd name="connsiteY4" fmla="*/ 3563361 h 3563361"/>
                <a:gd name="connsiteX5" fmla="*/ 167845 w 2789383"/>
                <a:gd name="connsiteY5" fmla="*/ 3552083 h 3563361"/>
                <a:gd name="connsiteX6" fmla="*/ 0 w 2789383"/>
                <a:gd name="connsiteY6" fmla="*/ 3528556 h 356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89383" h="3563361">
                  <a:moveTo>
                    <a:pt x="0" y="0"/>
                  </a:moveTo>
                  <a:lnTo>
                    <a:pt x="2254846" y="0"/>
                  </a:lnTo>
                  <a:lnTo>
                    <a:pt x="2383196" y="157642"/>
                  </a:lnTo>
                  <a:cubicBezTo>
                    <a:pt x="2639642" y="506275"/>
                    <a:pt x="2789383" y="926557"/>
                    <a:pt x="2789383" y="1378961"/>
                  </a:cubicBezTo>
                  <a:cubicBezTo>
                    <a:pt x="2789383" y="2585372"/>
                    <a:pt x="1724553" y="3563361"/>
                    <a:pt x="411019" y="3563361"/>
                  </a:cubicBezTo>
                  <a:cubicBezTo>
                    <a:pt x="328923" y="3563361"/>
                    <a:pt x="247799" y="3559541"/>
                    <a:pt x="167845" y="3552083"/>
                  </a:cubicBezTo>
                  <a:lnTo>
                    <a:pt x="0" y="352855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E0490BE0-43CD-42BF-A4D7-46FF0E6080F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70" y="516769"/>
            <a:ext cx="2119038" cy="1191959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1049824C-0D26-4B00-A916-99DE6AF727F2}"/>
              </a:ext>
            </a:extLst>
          </p:cNvPr>
          <p:cNvSpPr/>
          <p:nvPr/>
        </p:nvSpPr>
        <p:spPr>
          <a:xfrm>
            <a:off x="5229801" y="2271394"/>
            <a:ext cx="6524542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SGE-DAM-2º</a:t>
            </a:r>
            <a:endParaRPr lang="es-ES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s-E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“Fundamentos y desarrollo</a:t>
            </a:r>
          </a:p>
          <a:p>
            <a:pPr algn="ctr"/>
            <a:r>
              <a:rPr lang="es-E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 los sistemas </a:t>
            </a:r>
          </a:p>
          <a:p>
            <a:pPr algn="ctr"/>
            <a:r>
              <a:rPr lang="es-E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ERP ”</a:t>
            </a:r>
            <a:endParaRPr lang="es-ES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040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3533160" y="587226"/>
            <a:ext cx="40066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INTRODUCCIÓN 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150216" y="1748590"/>
            <a:ext cx="4272015" cy="206210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Los Sistemas de Información (SI) son la clave para el éxito de las empresas</a:t>
            </a:r>
            <a:endParaRPr lang="es-ES" sz="2800" dirty="0"/>
          </a:p>
        </p:txBody>
      </p:sp>
      <p:sp>
        <p:nvSpPr>
          <p:cNvPr id="9" name="CuadroTexto 8"/>
          <p:cNvSpPr txBox="1"/>
          <p:nvPr/>
        </p:nvSpPr>
        <p:spPr>
          <a:xfrm>
            <a:off x="1433960" y="4487103"/>
            <a:ext cx="3704525" cy="1077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Procesos de negocio EFICIENTES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314974" y="1748590"/>
            <a:ext cx="4705952" cy="45243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Los </a:t>
            </a:r>
            <a:r>
              <a:rPr lang="es-ES" sz="3200" dirty="0" err="1" smtClean="0"/>
              <a:t>ERPs</a:t>
            </a:r>
            <a:r>
              <a:rPr lang="es-ES" sz="3200" dirty="0" smtClean="0"/>
              <a:t> pueden ayudar a integrar las operaciones de una empresa: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Una BBDD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Compartida para todas las A.F.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Con datos consistentes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Permanentemente actualizados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5382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2566732" y="603268"/>
            <a:ext cx="636872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EVOLUCIÓN DE LOS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S.I.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657726" y="1843521"/>
            <a:ext cx="4042611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b="1" dirty="0" smtClean="0">
                <a:solidFill>
                  <a:srgbClr val="FF0000"/>
                </a:solidFill>
              </a:rPr>
              <a:t>LO QUE PASABA HASTA HACE POCO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S.I. NO INTEGRADOS (silos)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Un S.I. DE M/S; otro de </a:t>
            </a:r>
            <a:r>
              <a:rPr lang="es-ES" sz="2800" dirty="0" smtClean="0"/>
              <a:t>SCM; …</a:t>
            </a:r>
            <a:endParaRPr lang="es-ES" sz="28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Cada uno con su </a:t>
            </a:r>
            <a:r>
              <a:rPr lang="es-ES" sz="2800" dirty="0" err="1" smtClean="0"/>
              <a:t>hard</a:t>
            </a:r>
            <a:r>
              <a:rPr lang="es-ES" sz="2800" dirty="0" smtClean="0"/>
              <a:t>, </a:t>
            </a:r>
            <a:r>
              <a:rPr lang="es-ES" sz="2800" dirty="0" err="1" smtClean="0"/>
              <a:t>soft</a:t>
            </a:r>
            <a:r>
              <a:rPr lang="es-ES" sz="2800" dirty="0" smtClean="0"/>
              <a:t>, formas de procesamiento de datos</a:t>
            </a:r>
            <a:endParaRPr lang="es-ES" sz="2800" dirty="0"/>
          </a:p>
        </p:txBody>
      </p:sp>
      <p:sp>
        <p:nvSpPr>
          <p:cNvPr id="6" name="CuadroTexto 5"/>
          <p:cNvSpPr txBox="1"/>
          <p:nvPr/>
        </p:nvSpPr>
        <p:spPr>
          <a:xfrm>
            <a:off x="4989095" y="1776711"/>
            <a:ext cx="2871537" cy="353943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b="1" dirty="0" smtClean="0">
                <a:solidFill>
                  <a:srgbClr val="FF0000"/>
                </a:solidFill>
              </a:rPr>
              <a:t>LO QUE PASA HOY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S.I. INTEGRADOS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Un S.I. que gestiona TODAS las A.F.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dirty="0" err="1" smtClean="0"/>
              <a:t>Hard</a:t>
            </a:r>
            <a:r>
              <a:rPr lang="es-ES" sz="2800" dirty="0" smtClean="0"/>
              <a:t> y </a:t>
            </a:r>
            <a:r>
              <a:rPr lang="es-ES" sz="2800" dirty="0" err="1"/>
              <a:t>S</a:t>
            </a:r>
            <a:r>
              <a:rPr lang="es-ES" sz="2800" dirty="0" err="1" smtClean="0"/>
              <a:t>oft</a:t>
            </a:r>
            <a:r>
              <a:rPr lang="es-ES" sz="2800" dirty="0" smtClean="0"/>
              <a:t> + complejo</a:t>
            </a:r>
            <a:endParaRPr lang="es-ES" sz="28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149391" y="1810116"/>
            <a:ext cx="3481136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b="1" dirty="0" smtClean="0">
                <a:solidFill>
                  <a:srgbClr val="FF0000"/>
                </a:solidFill>
              </a:rPr>
              <a:t>¿POR QUÉ ESTA EVOLUCIÓN?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ES" sz="2800" dirty="0" smtClean="0">
                <a:solidFill>
                  <a:schemeClr val="tx1"/>
                </a:solidFill>
              </a:rPr>
              <a:t>Avances Tecnológicos (</a:t>
            </a:r>
            <a:r>
              <a:rPr lang="es-ES" sz="2800" dirty="0" err="1" smtClean="0">
                <a:solidFill>
                  <a:schemeClr val="tx1"/>
                </a:solidFill>
              </a:rPr>
              <a:t>hard-soft</a:t>
            </a:r>
            <a:r>
              <a:rPr lang="es-ES" sz="2800" dirty="0" smtClean="0">
                <a:solidFill>
                  <a:schemeClr val="tx1"/>
                </a:solidFill>
              </a:rPr>
              <a:t>)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ES" sz="2800" dirty="0" smtClean="0">
                <a:solidFill>
                  <a:schemeClr val="tx1"/>
                </a:solidFill>
              </a:rPr>
              <a:t>S.I. integrados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ES" sz="2800" dirty="0" smtClean="0">
                <a:solidFill>
                  <a:schemeClr val="tx1"/>
                </a:solidFill>
              </a:rPr>
              <a:t>Reingeniería de empresas (de A.F. -</a:t>
            </a:r>
            <a:r>
              <a:rPr lang="es-ES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Procesos de negocio)</a:t>
            </a:r>
            <a:endParaRPr lang="es-E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9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2133595" y="587226"/>
            <a:ext cx="741145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DESARROLLO DEL HARD/SOFT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625643" y="1777640"/>
            <a:ext cx="5630778" cy="35394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b="1" dirty="0" smtClean="0">
                <a:solidFill>
                  <a:srgbClr val="FF0000"/>
                </a:solidFill>
              </a:rPr>
              <a:t>AÑOS 60-70</a:t>
            </a:r>
            <a:r>
              <a:rPr lang="es-ES" sz="2800" b="1" dirty="0" smtClean="0">
                <a:solidFill>
                  <a:schemeClr val="tx1"/>
                </a:solidFill>
              </a:rPr>
              <a:t>: Rápido desarrollo de </a:t>
            </a:r>
            <a:r>
              <a:rPr lang="es-ES" sz="2800" b="1" dirty="0" err="1" smtClean="0">
                <a:solidFill>
                  <a:schemeClr val="tx1"/>
                </a:solidFill>
              </a:rPr>
              <a:t>hard</a:t>
            </a:r>
            <a:r>
              <a:rPr lang="es-ES" sz="2800" b="1" dirty="0" smtClean="0">
                <a:solidFill>
                  <a:schemeClr val="tx1"/>
                </a:solidFill>
              </a:rPr>
              <a:t>/</a:t>
            </a:r>
            <a:r>
              <a:rPr lang="es-ES" sz="2800" b="1" dirty="0" err="1" smtClean="0">
                <a:solidFill>
                  <a:schemeClr val="tx1"/>
                </a:solidFill>
              </a:rPr>
              <a:t>soft</a:t>
            </a:r>
            <a:r>
              <a:rPr lang="es-ES" sz="2800" b="1" dirty="0" smtClean="0">
                <a:solidFill>
                  <a:schemeClr val="tx1"/>
                </a:solidFill>
              </a:rPr>
              <a:t>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M</a:t>
            </a:r>
            <a:r>
              <a:rPr lang="es-ES" sz="2800" b="1" dirty="0" smtClean="0">
                <a:solidFill>
                  <a:schemeClr val="tx1"/>
                </a:solidFill>
              </a:rPr>
              <a:t>ainframes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err="1" smtClean="0">
                <a:solidFill>
                  <a:schemeClr val="tx1"/>
                </a:solidFill>
              </a:rPr>
              <a:t>Dsps</a:t>
            </a:r>
            <a:r>
              <a:rPr lang="es-ES" sz="2800" b="1" dirty="0" smtClean="0">
                <a:solidFill>
                  <a:schemeClr val="tx1"/>
                </a:solidFill>
              </a:rPr>
              <a:t> ordenadores +rápidos, +pequeños, +baratos</a:t>
            </a:r>
            <a:endParaRPr lang="es-ES" sz="2800" b="1" dirty="0" smtClean="0">
              <a:solidFill>
                <a:schemeClr val="tx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Ley de Moore</a:t>
            </a:r>
          </a:p>
          <a:p>
            <a:r>
              <a:rPr lang="es-ES" sz="2800" b="1" dirty="0" smtClean="0">
                <a:solidFill>
                  <a:srgbClr val="FF0000"/>
                </a:solidFill>
              </a:rPr>
              <a:t>AÑOS 70</a:t>
            </a:r>
            <a:r>
              <a:rPr lang="es-ES" sz="2800" b="1" dirty="0" smtClean="0">
                <a:solidFill>
                  <a:schemeClr val="tx1"/>
                </a:solidFill>
              </a:rPr>
              <a:t>: </a:t>
            </a:r>
            <a:r>
              <a:rPr lang="es-ES" sz="2800" b="1" dirty="0" err="1" smtClean="0">
                <a:solidFill>
                  <a:schemeClr val="tx1"/>
                </a:solidFill>
              </a:rPr>
              <a:t>Soft</a:t>
            </a:r>
            <a:r>
              <a:rPr lang="es-ES" sz="2800" b="1" dirty="0" smtClean="0">
                <a:solidFill>
                  <a:schemeClr val="tx1"/>
                </a:solidFill>
              </a:rPr>
              <a:t> de BBDD Relacionales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Grandes volúmenes de datos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416842" y="1777640"/>
            <a:ext cx="5197643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FF0000"/>
                </a:solidFill>
              </a:rPr>
              <a:t>AÑOS 80</a:t>
            </a:r>
            <a:r>
              <a:rPr lang="es-ES" sz="2800" b="1" dirty="0">
                <a:solidFill>
                  <a:schemeClr val="tx1"/>
                </a:solidFill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Hojas de </a:t>
            </a:r>
            <a:r>
              <a:rPr lang="es-ES" sz="2800" b="1" dirty="0" smtClean="0">
                <a:solidFill>
                  <a:schemeClr val="tx1"/>
                </a:solidFill>
              </a:rPr>
              <a:t>cálculo (popularidad)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 smtClean="0">
                <a:solidFill>
                  <a:schemeClr val="tx1"/>
                </a:solidFill>
              </a:rPr>
              <a:t>PCs</a:t>
            </a:r>
            <a:r>
              <a:rPr lang="es-ES" sz="2800" b="1" dirty="0" smtClean="0">
                <a:solidFill>
                  <a:schemeClr val="tx1"/>
                </a:solidFill>
              </a:rPr>
              <a:t> (popularidad)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 smtClean="0">
                <a:solidFill>
                  <a:schemeClr val="tx1"/>
                </a:solidFill>
              </a:rPr>
              <a:t>HDs</a:t>
            </a:r>
            <a:r>
              <a:rPr lang="es-ES" sz="2800" b="1" dirty="0" smtClean="0">
                <a:solidFill>
                  <a:schemeClr val="tx1"/>
                </a:solidFill>
              </a:rPr>
              <a:t> e Impresoras caros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Necesidad de compartir datos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Avances en telecomunicaciones – </a:t>
            </a:r>
            <a:r>
              <a:rPr lang="es-ES" sz="2800" b="1" dirty="0" err="1" smtClean="0">
                <a:solidFill>
                  <a:schemeClr val="tx1"/>
                </a:solidFill>
              </a:rPr>
              <a:t>LANs</a:t>
            </a:r>
            <a:endParaRPr lang="es-ES" sz="2800" b="1" dirty="0" smtClean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ARQUITECTURA </a:t>
            </a:r>
            <a:r>
              <a:rPr lang="es-ES" sz="2800" b="1" dirty="0" smtClean="0">
                <a:solidFill>
                  <a:schemeClr val="tx1"/>
                </a:solidFill>
              </a:rPr>
              <a:t>CTE/SRV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Servidores +potentes, -costosos. ESCALABILIDAD</a:t>
            </a:r>
          </a:p>
        </p:txBody>
      </p:sp>
    </p:spTree>
    <p:extLst>
      <p:ext uri="{BB962C8B-B14F-4D97-AF65-F5344CB8AC3E}">
        <p14:creationId xmlns:p14="http://schemas.microsoft.com/office/powerpoint/2010/main" val="18322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2133595" y="587226"/>
            <a:ext cx="741145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DESARROLLO DEL HARD/SOFT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925054" y="1440756"/>
            <a:ext cx="8261683" cy="26776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rgbClr val="FF0000"/>
                </a:solidFill>
              </a:rPr>
              <a:t>FINALES DE LOS AÑOS 80</a:t>
            </a:r>
            <a:r>
              <a:rPr lang="es-ES" sz="2800" b="1" dirty="0" smtClean="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Ordenadores rápidos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Accesos por 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Tecnología avanzada en BBDD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SGBD – Sistema para almacenar, organizar y recuperar gran cantidad de datos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106906" y="4721853"/>
            <a:ext cx="4948990" cy="126188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dirty="0" smtClean="0"/>
              <a:t>HABÍA CONDICIONES PARA …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4800" dirty="0" smtClean="0"/>
              <a:t>SOFTWARE ERP</a:t>
            </a:r>
            <a:endParaRPr lang="es-ES" sz="4800" dirty="0" smtClean="0"/>
          </a:p>
        </p:txBody>
      </p:sp>
      <p:sp>
        <p:nvSpPr>
          <p:cNvPr id="8" name="CuadroTexto 7"/>
          <p:cNvSpPr txBox="1"/>
          <p:nvPr/>
        </p:nvSpPr>
        <p:spPr>
          <a:xfrm>
            <a:off x="6705599" y="4721853"/>
            <a:ext cx="4539917" cy="12618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b="1" dirty="0" smtClean="0">
                <a:solidFill>
                  <a:srgbClr val="FF0000"/>
                </a:solidFill>
              </a:rPr>
              <a:t>SOLO FALTABAN …</a:t>
            </a:r>
            <a:endParaRPr lang="es-ES" sz="2800" b="1" dirty="0" smtClean="0">
              <a:solidFill>
                <a:srgbClr val="FF0000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4800" dirty="0" smtClean="0"/>
              <a:t>LAS EMPRESAS</a:t>
            </a:r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428213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171070" y="2482830"/>
            <a:ext cx="4989098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chemeClr val="tx1"/>
                </a:solidFill>
              </a:rPr>
              <a:t>AÑOS 60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IBM desarrolla sistemas enfocados a GESTIÓN e INVENTARIOS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20338" y="1248796"/>
            <a:ext cx="6535956" cy="1077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El concepto de SI integrado surge en la PLANTAS DE FABRICACIÓN</a:t>
            </a:r>
            <a:endParaRPr lang="es-ES" sz="3200" dirty="0" smtClean="0"/>
          </a:p>
        </p:txBody>
      </p:sp>
      <p:sp>
        <p:nvSpPr>
          <p:cNvPr id="11" name="CuadroTexto 10"/>
          <p:cNvSpPr txBox="1"/>
          <p:nvPr/>
        </p:nvSpPr>
        <p:spPr>
          <a:xfrm>
            <a:off x="6801850" y="2541822"/>
            <a:ext cx="4283245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chemeClr val="tx1"/>
                </a:solidFill>
              </a:rPr>
              <a:t>AÑOS 60-70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Se desarrolla el SOFT de FABRICACIÓN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235241" y="4666484"/>
            <a:ext cx="9849854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chemeClr val="tx1"/>
                </a:solidFill>
              </a:rPr>
              <a:t>Evolución: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De SOFT de INVENTARIO</a:t>
            </a:r>
            <a:endParaRPr lang="es-ES" sz="2800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A SOFT de PLANIFICACIÓN de NECESIDADES de MATERIAL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47289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400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021167" y="4505677"/>
            <a:ext cx="4326712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chemeClr val="tx1"/>
                </a:solidFill>
              </a:rPr>
              <a:t>EDI (intercambio de datos electrónico)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- Costos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- Retrasos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021167" y="1320220"/>
            <a:ext cx="9981129" cy="95410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MRP </a:t>
            </a:r>
            <a:r>
              <a:rPr lang="es-ES" sz="2800" b="1" dirty="0" smtClean="0">
                <a:solidFill>
                  <a:schemeClr val="bg1"/>
                </a:solidFill>
              </a:rPr>
              <a:t>I</a:t>
            </a:r>
            <a:r>
              <a:rPr lang="es-ES" sz="2800" b="1" dirty="0">
                <a:solidFill>
                  <a:schemeClr val="bg1"/>
                </a:solidFill>
              </a:rPr>
              <a:t>: </a:t>
            </a:r>
            <a:r>
              <a:rPr lang="es-ES" sz="2800" b="1" dirty="0" smtClean="0">
                <a:solidFill>
                  <a:schemeClr val="bg1"/>
                </a:solidFill>
              </a:rPr>
              <a:t>MATERIAL REQUIREMENTS PLANNING</a:t>
            </a:r>
          </a:p>
          <a:p>
            <a:pPr algn="ctr"/>
            <a:r>
              <a:rPr lang="es-ES" sz="2800" b="1" dirty="0" smtClean="0">
                <a:solidFill>
                  <a:schemeClr val="bg1"/>
                </a:solidFill>
              </a:rPr>
              <a:t>Planificación de los </a:t>
            </a:r>
            <a:r>
              <a:rPr lang="es-ES" sz="2800" b="1" dirty="0">
                <a:solidFill>
                  <a:schemeClr val="bg1"/>
                </a:solidFill>
              </a:rPr>
              <a:t>R</a:t>
            </a:r>
            <a:r>
              <a:rPr lang="es-ES" sz="2800" b="1" dirty="0" smtClean="0">
                <a:solidFill>
                  <a:schemeClr val="bg1"/>
                </a:solidFill>
              </a:rPr>
              <a:t>equerimientos Materiales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714903" y="3483873"/>
            <a:ext cx="4932307" cy="9541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chemeClr val="tx1"/>
                </a:solidFill>
              </a:rPr>
              <a:t>ORDENADORES (mainframes)</a:t>
            </a:r>
          </a:p>
          <a:p>
            <a:pPr algn="ctr"/>
            <a:r>
              <a:rPr lang="es-ES" sz="2800" b="1" dirty="0" smtClean="0">
                <a:solidFill>
                  <a:srgbClr val="FF0000"/>
                </a:solidFill>
              </a:rPr>
              <a:t>Imprescindibles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292125" y="4519141"/>
            <a:ext cx="4710171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800" b="1" dirty="0" smtClean="0">
                <a:solidFill>
                  <a:schemeClr val="tx1"/>
                </a:solidFill>
              </a:rPr>
              <a:t>SCM comparte la planificación de la producción entre: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Fabricantes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P</a:t>
            </a:r>
            <a:r>
              <a:rPr lang="es-ES" sz="2800" b="1" dirty="0" smtClean="0">
                <a:solidFill>
                  <a:schemeClr val="tx1"/>
                </a:solidFill>
              </a:rPr>
              <a:t>roveedores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54663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021167" y="2462069"/>
            <a:ext cx="9981129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800" b="1" dirty="0">
                <a:solidFill>
                  <a:srgbClr val="FF0000"/>
                </a:solidFill>
              </a:rPr>
              <a:t>Permitió planificar la producción y las necesidades de materias primas trabajando hacia atrás desde la previsión de ventas </a:t>
            </a:r>
            <a:endParaRPr lang="es-E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77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54663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07924" y="1640539"/>
            <a:ext cx="10913805" cy="403187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4800" b="1" dirty="0">
                <a:solidFill>
                  <a:srgbClr val="00A74C"/>
                </a:solidFill>
              </a:rPr>
              <a:t>MRP </a:t>
            </a:r>
            <a:r>
              <a:rPr lang="es-ES" sz="4800" b="1" dirty="0" smtClean="0">
                <a:solidFill>
                  <a:srgbClr val="00A74C"/>
                </a:solidFill>
              </a:rPr>
              <a:t>I</a:t>
            </a:r>
          </a:p>
          <a:p>
            <a:pPr lvl="0"/>
            <a:r>
              <a:rPr lang="es-ES" sz="4800" b="1" dirty="0" smtClean="0">
                <a:solidFill>
                  <a:srgbClr val="FF0000"/>
                </a:solidFill>
              </a:rPr>
              <a:t>ECUACIÓN UNIVERSAL DE FABRICACIÓN: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4000" b="1" dirty="0" smtClean="0"/>
              <a:t>¿</a:t>
            </a:r>
            <a:r>
              <a:rPr lang="es-ES" sz="4000" b="1" dirty="0" smtClean="0">
                <a:solidFill>
                  <a:schemeClr val="bg1"/>
                </a:solidFill>
              </a:rPr>
              <a:t>QUÉ VAMOS A FABRICAR?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4000" b="1" dirty="0" smtClean="0">
                <a:solidFill>
                  <a:schemeClr val="bg1"/>
                </a:solidFill>
              </a:rPr>
              <a:t>¿QUÉ NECESITAMOS PARA FABRICARLO?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4000" b="1" dirty="0" smtClean="0">
                <a:solidFill>
                  <a:schemeClr val="bg1"/>
                </a:solidFill>
              </a:rPr>
              <a:t>¿QUÉ MATERIALES TENEMOS?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4000" b="1" dirty="0" smtClean="0">
                <a:solidFill>
                  <a:schemeClr val="bg1"/>
                </a:solidFill>
              </a:rPr>
              <a:t>¿QUÉ NECESITAMOS PEDIR?</a:t>
            </a:r>
            <a:endParaRPr lang="es-E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24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917928" y="2434213"/>
            <a:ext cx="5025672" cy="3539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FF0000"/>
                </a:solidFill>
              </a:rPr>
              <a:t>PLANIFICACIÓN de PRIORIDADES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No solo una forma de hacer mejores pedidos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Tb servía para mantener fechas de vencimiento de los pedidos en PRODUCCIÓN y PROVEEDORES</a:t>
            </a:r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917927" y="1445866"/>
            <a:ext cx="5025673" cy="5232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800" b="1" dirty="0">
                <a:solidFill>
                  <a:schemeClr val="bg1"/>
                </a:solidFill>
              </a:rPr>
              <a:t>MRP </a:t>
            </a:r>
            <a:r>
              <a:rPr lang="es-ES" sz="2800" b="1" dirty="0" smtClean="0">
                <a:solidFill>
                  <a:schemeClr val="bg1"/>
                </a:solidFill>
              </a:rPr>
              <a:t>I evolucionó: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6485407" y="1445866"/>
            <a:ext cx="5058697" cy="48320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FF0000"/>
                </a:solidFill>
              </a:rPr>
              <a:t>MRP de BUCLE CERRADO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Se añaden nuevas funcionalidades: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Herramientas para 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Planificación ventas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Planificaciones específicas de fabricación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Previsiones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Planificación de proveedores (Gestión de la demanda)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54663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371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891922" y="2687123"/>
            <a:ext cx="2252976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FF0000"/>
                </a:solidFill>
              </a:rPr>
              <a:t>OBJETIVO</a:t>
            </a:r>
          </a:p>
          <a:p>
            <a:pPr lvl="0" algn="ctr"/>
            <a:r>
              <a:rPr lang="es-ES" sz="2800" b="1" dirty="0" smtClean="0">
                <a:solidFill>
                  <a:schemeClr val="tx1"/>
                </a:solidFill>
              </a:rPr>
              <a:t>COORDINAR el proceso de FABRICACIÓN</a:t>
            </a:r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885674" y="1316074"/>
            <a:ext cx="8698021" cy="95410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800" b="1" dirty="0">
                <a:solidFill>
                  <a:schemeClr val="bg1"/>
                </a:solidFill>
              </a:rPr>
              <a:t>MRP </a:t>
            </a:r>
            <a:r>
              <a:rPr lang="es-ES" sz="2800" b="1" dirty="0" smtClean="0">
                <a:solidFill>
                  <a:schemeClr val="bg1"/>
                </a:solidFill>
              </a:rPr>
              <a:t>II</a:t>
            </a:r>
            <a:r>
              <a:rPr lang="es-ES" sz="2800" b="1" dirty="0">
                <a:solidFill>
                  <a:schemeClr val="bg1"/>
                </a:solidFill>
              </a:rPr>
              <a:t>: </a:t>
            </a:r>
            <a:r>
              <a:rPr lang="es-ES" sz="2800" b="1" dirty="0">
                <a:solidFill>
                  <a:schemeClr val="bg1"/>
                </a:solidFill>
              </a:rPr>
              <a:t>MANUFACTURING RESOURCE </a:t>
            </a:r>
            <a:r>
              <a:rPr lang="es-ES" sz="2800" b="1" dirty="0" smtClean="0">
                <a:solidFill>
                  <a:schemeClr val="bg1"/>
                </a:solidFill>
              </a:rPr>
              <a:t>PLANNING</a:t>
            </a:r>
          </a:p>
          <a:p>
            <a:pPr lvl="0" algn="ctr"/>
            <a:r>
              <a:rPr lang="es-ES" sz="2800" b="1" dirty="0">
                <a:solidFill>
                  <a:schemeClr val="bg1"/>
                </a:solidFill>
              </a:rPr>
              <a:t>Planificación de Recursos de Fabricación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611413" y="2521841"/>
            <a:ext cx="7553116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FF0000"/>
                </a:solidFill>
              </a:rPr>
              <a:t>EXTENSIÓN del MRP de BUCLE CERRADO</a:t>
            </a:r>
          </a:p>
          <a:p>
            <a:r>
              <a:rPr lang="es-ES" sz="2800" b="1" dirty="0" smtClean="0">
                <a:solidFill>
                  <a:srgbClr val="0000CC"/>
                </a:solidFill>
              </a:rPr>
              <a:t>Implica 3 elementos +:  </a:t>
            </a:r>
            <a:endParaRPr lang="es-ES" sz="2800" b="1" dirty="0">
              <a:solidFill>
                <a:srgbClr val="0000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CC"/>
                </a:solidFill>
              </a:rPr>
              <a:t>Planificación de Operaciones y </a:t>
            </a:r>
            <a:r>
              <a:rPr lang="es-ES" sz="2800" b="1" dirty="0" smtClean="0">
                <a:solidFill>
                  <a:srgbClr val="0000CC"/>
                </a:solidFill>
              </a:rPr>
              <a:t>Ventas (M/S)</a:t>
            </a:r>
            <a:endParaRPr lang="es-ES" sz="2800" b="1" dirty="0">
              <a:solidFill>
                <a:srgbClr val="0000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00CC"/>
                </a:solidFill>
              </a:rPr>
              <a:t>Interface </a:t>
            </a:r>
            <a:r>
              <a:rPr lang="es-ES" sz="2800" b="1" dirty="0" smtClean="0">
                <a:solidFill>
                  <a:srgbClr val="0000CC"/>
                </a:solidFill>
              </a:rPr>
              <a:t>financiera (A/F)</a:t>
            </a:r>
            <a:endParaRPr lang="es-ES" sz="2800" b="1" dirty="0">
              <a:solidFill>
                <a:srgbClr val="0000CC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Simulación: ¿qué pasaría si …?</a:t>
            </a:r>
            <a:endParaRPr lang="es-ES" sz="2800" b="1" dirty="0">
              <a:solidFill>
                <a:srgbClr val="0000CC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54663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988142" y="5020270"/>
            <a:ext cx="10176387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FF0000"/>
                </a:solidFill>
              </a:rPr>
              <a:t>ÚNICO PROBLEMA …</a:t>
            </a:r>
          </a:p>
          <a:p>
            <a:pPr lvl="0" algn="ctr"/>
            <a:r>
              <a:rPr lang="es-ES" sz="2400" dirty="0">
                <a:solidFill>
                  <a:schemeClr val="tx1"/>
                </a:solidFill>
              </a:rPr>
              <a:t>MRP II </a:t>
            </a:r>
            <a:r>
              <a:rPr lang="es-ES" sz="3600" b="1" dirty="0" smtClean="0">
                <a:solidFill>
                  <a:schemeClr val="tx1"/>
                </a:solidFill>
              </a:rPr>
              <a:t>NO</a:t>
            </a:r>
            <a:r>
              <a:rPr lang="es-ES" sz="2400" dirty="0" smtClean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integraba sus datos y procesos con el resto de áreas de la empresa</a:t>
            </a:r>
            <a:endParaRPr lang="es-E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92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646981" y="1669484"/>
            <a:ext cx="6806736" cy="36009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b="1" dirty="0" smtClean="0">
                <a:solidFill>
                  <a:srgbClr val="FF0000"/>
                </a:solidFill>
              </a:rPr>
              <a:t>Y, antes de aparecer los </a:t>
            </a:r>
            <a:r>
              <a:rPr lang="es-ES" sz="3200" b="1" dirty="0" err="1" smtClean="0">
                <a:solidFill>
                  <a:srgbClr val="FF0000"/>
                </a:solidFill>
              </a:rPr>
              <a:t>ERPs</a:t>
            </a:r>
            <a:r>
              <a:rPr lang="es-ES" sz="3200" b="1" dirty="0" smtClean="0">
                <a:solidFill>
                  <a:srgbClr val="FF0000"/>
                </a:solidFill>
              </a:rPr>
              <a:t> …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1 Precedente </a:t>
            </a:r>
            <a:r>
              <a:rPr lang="es-ES" sz="2800" b="1" dirty="0">
                <a:solidFill>
                  <a:schemeClr val="tx1"/>
                </a:solidFill>
              </a:rPr>
              <a:t>de integración de todas las áreas básicas de la </a:t>
            </a:r>
            <a:r>
              <a:rPr lang="es-ES" sz="2800" b="1" dirty="0" smtClean="0">
                <a:solidFill>
                  <a:schemeClr val="tx1"/>
                </a:solidFill>
              </a:rPr>
              <a:t>empresa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1985, empresa S&amp;OP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chemeClr val="tx1"/>
                </a:solidFill>
              </a:rPr>
              <a:t>C</a:t>
            </a:r>
            <a:r>
              <a:rPr lang="es-ES" sz="2800" b="1" dirty="0" smtClean="0">
                <a:solidFill>
                  <a:schemeClr val="tx1"/>
                </a:solidFill>
              </a:rPr>
              <a:t>onectar </a:t>
            </a:r>
            <a:r>
              <a:rPr lang="es-ES" sz="2800" b="1" dirty="0">
                <a:solidFill>
                  <a:schemeClr val="tx1"/>
                </a:solidFill>
              </a:rPr>
              <a:t>el plan financiero, el plan de </a:t>
            </a:r>
            <a:r>
              <a:rPr lang="es-ES" sz="2800" b="1" dirty="0">
                <a:solidFill>
                  <a:schemeClr val="tx1"/>
                </a:solidFill>
              </a:rPr>
              <a:t>operaciones, y el plan de </a:t>
            </a:r>
            <a:r>
              <a:rPr lang="es-ES" sz="2800" b="1" dirty="0">
                <a:solidFill>
                  <a:schemeClr val="tx1"/>
                </a:solidFill>
              </a:rPr>
              <a:t>ventas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i="1" dirty="0" smtClean="0">
                <a:solidFill>
                  <a:schemeClr val="tx1"/>
                </a:solidFill>
              </a:rPr>
              <a:t>“Es </a:t>
            </a:r>
            <a:r>
              <a:rPr lang="es-ES" sz="2800" b="1" i="1" dirty="0">
                <a:solidFill>
                  <a:schemeClr val="tx1"/>
                </a:solidFill>
              </a:rPr>
              <a:t>mejor estar casi seguro, que completamente </a:t>
            </a:r>
            <a:r>
              <a:rPr lang="es-ES" sz="2800" b="1" i="1" dirty="0" smtClean="0">
                <a:solidFill>
                  <a:schemeClr val="tx1"/>
                </a:solidFill>
              </a:rPr>
              <a:t>equivocado”</a:t>
            </a:r>
            <a:endParaRPr lang="es-ES" sz="2800" b="1" i="1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54663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170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475743" y="546633"/>
            <a:ext cx="40193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MRP I y MRP II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44" y="1316074"/>
            <a:ext cx="7103325" cy="486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1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769807" y="1467658"/>
            <a:ext cx="8981768" cy="3539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Necesidad de información precisa y rápida para tomar buenas decisiones.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Necesidad de tener una única BBDD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Finales de los 80 / Principios de los 90: Años difíciles. Empresas reducen tamaño. Reorganización.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chemeClr val="tx1"/>
                </a:solidFill>
              </a:rPr>
              <a:t>El modelo funcional de las empresas (EEUU-General Motors años 30) no sirve (silos de información; todo lo gestiona la Dirección; verticalidad)</a:t>
            </a:r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71949" y="517137"/>
            <a:ext cx="1125301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ÍMPETU DE LOS GESTORES PARA ADOPTAR ERP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968631" y="5343464"/>
            <a:ext cx="6584119" cy="76944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4400" b="1" dirty="0" smtClean="0">
                <a:solidFill>
                  <a:schemeClr val="tx1"/>
                </a:solidFill>
              </a:rPr>
              <a:t>SE NECESITA UN ERP !!!!</a:t>
            </a:r>
          </a:p>
        </p:txBody>
      </p:sp>
    </p:spTree>
    <p:extLst>
      <p:ext uri="{BB962C8B-B14F-4D97-AF65-F5344CB8AC3E}">
        <p14:creationId xmlns:p14="http://schemas.microsoft.com/office/powerpoint/2010/main" val="52748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71949" y="517137"/>
            <a:ext cx="1125301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ÍMPETU DE LOS GESTORES PARA ADOPTAR ERP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594" y="1286577"/>
            <a:ext cx="5855110" cy="447848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218677" y="5812767"/>
            <a:ext cx="7149439" cy="64633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Flujos de materiales e información en un modelo de negocios </a:t>
            </a:r>
            <a:r>
              <a:rPr lang="es-ES" b="1" dirty="0" smtClean="0"/>
              <a:t>funciona (VERTICAL)l</a:t>
            </a:r>
            <a:endParaRPr lang="es-E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87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471949" y="517137"/>
            <a:ext cx="1125301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ÍMPETU DE LOS GESTORES PARA ADOPTAR ERP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680755" y="5666488"/>
            <a:ext cx="7149439" cy="64633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/>
              <a:t>Flujos de materiales e información en un modelo </a:t>
            </a:r>
            <a:r>
              <a:rPr lang="es-ES" b="1" dirty="0" smtClean="0"/>
              <a:t>de procesos de negocio (HORIZONTAL)</a:t>
            </a:r>
            <a:endParaRPr lang="es-ES" sz="2800" b="1" dirty="0" smtClean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569" y="1118024"/>
            <a:ext cx="7959812" cy="454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/>
          <p:cNvSpPr txBox="1"/>
          <p:nvPr/>
        </p:nvSpPr>
        <p:spPr>
          <a:xfrm>
            <a:off x="2310643" y="1481775"/>
            <a:ext cx="7553116" cy="48320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SAP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(R/3)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BUSINESS ONE (pymes)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MICROSOFT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DYNAMICS 365 (</a:t>
            </a:r>
            <a:r>
              <a:rPr lang="es-ES" sz="2800" b="1" dirty="0" err="1" smtClean="0">
                <a:solidFill>
                  <a:srgbClr val="0000CC"/>
                </a:solidFill>
              </a:rPr>
              <a:t>cloud</a:t>
            </a:r>
            <a:r>
              <a:rPr lang="es-ES" sz="2800" b="1" dirty="0" smtClean="0">
                <a:solidFill>
                  <a:srgbClr val="0000CC"/>
                </a:solidFill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BUSINESS CENTRAL (pymes)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ORACLE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ODOO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SALESFORCE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smtClean="0">
                <a:solidFill>
                  <a:srgbClr val="0000CC"/>
                </a:solidFill>
              </a:rPr>
              <a:t>DOLIBARR</a:t>
            </a:r>
            <a:endParaRPr lang="es-ES" sz="2800" b="1" dirty="0">
              <a:solidFill>
                <a:srgbClr val="0000CC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3989047" y="723614"/>
            <a:ext cx="449127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PRINCIPALES </a:t>
            </a:r>
            <a:r>
              <a:rPr lang="es-ES" sz="44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ERPs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36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2455213" y="553517"/>
            <a:ext cx="811938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PRINCIPALES MÓDULOS (SAP ERP)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58" y="1322958"/>
            <a:ext cx="5121084" cy="483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3938695" y="5098361"/>
            <a:ext cx="35095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Eskerrik</a:t>
            </a:r>
            <a:r>
              <a:rPr lang="es-E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s-E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Asko</a:t>
            </a:r>
            <a:r>
              <a:rPr lang="es-E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!!!</a:t>
            </a:r>
          </a:p>
        </p:txBody>
      </p:sp>
      <p:sp>
        <p:nvSpPr>
          <p:cNvPr id="25" name="Oval 154">
            <a:extLst>
              <a:ext uri="{FF2B5EF4-FFF2-40B4-BE49-F238E27FC236}">
                <a16:creationId xmlns:a16="http://schemas.microsoft.com/office/drawing/2014/main" id="{FB2D0472-250F-4E0D-AB1C-BA1205F6C346}"/>
              </a:ext>
            </a:extLst>
          </p:cNvPr>
          <p:cNvSpPr/>
          <p:nvPr/>
        </p:nvSpPr>
        <p:spPr>
          <a:xfrm>
            <a:off x="4102727" y="1469009"/>
            <a:ext cx="3117876" cy="31178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1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155">
            <a:extLst>
              <a:ext uri="{FF2B5EF4-FFF2-40B4-BE49-F238E27FC236}">
                <a16:creationId xmlns:a16="http://schemas.microsoft.com/office/drawing/2014/main" id="{645403C8-A4CB-4DDA-8639-98294095D2AA}"/>
              </a:ext>
            </a:extLst>
          </p:cNvPr>
          <p:cNvSpPr/>
          <p:nvPr/>
        </p:nvSpPr>
        <p:spPr>
          <a:xfrm>
            <a:off x="4473493" y="1810215"/>
            <a:ext cx="2439954" cy="2439954"/>
          </a:xfrm>
          <a:prstGeom prst="ellipse">
            <a:avLst/>
          </a:prstGeom>
          <a:solidFill>
            <a:srgbClr val="0070C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156">
            <a:extLst>
              <a:ext uri="{FF2B5EF4-FFF2-40B4-BE49-F238E27FC236}">
                <a16:creationId xmlns:a16="http://schemas.microsoft.com/office/drawing/2014/main" id="{7726ECB5-1D3B-4C9B-9125-499BF8567D10}"/>
              </a:ext>
            </a:extLst>
          </p:cNvPr>
          <p:cNvSpPr/>
          <p:nvPr/>
        </p:nvSpPr>
        <p:spPr>
          <a:xfrm>
            <a:off x="4689937" y="2046330"/>
            <a:ext cx="2007624" cy="2007624"/>
          </a:xfrm>
          <a:prstGeom prst="ellipse">
            <a:avLst/>
          </a:prstGeom>
          <a:solidFill>
            <a:srgbClr val="F0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Imagen 21">
            <a:extLst>
              <a:ext uri="{FF2B5EF4-FFF2-40B4-BE49-F238E27FC236}">
                <a16:creationId xmlns:a16="http://schemas.microsoft.com/office/drawing/2014/main" id="{1803594E-F0F9-444A-AFE8-0ED43AE181C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377" y="2354791"/>
            <a:ext cx="1659502" cy="13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4919</TotalTime>
  <Words>750</Words>
  <Application>Microsoft Office PowerPoint</Application>
  <PresentationFormat>Panorámica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Txema</cp:lastModifiedBy>
  <cp:revision>226</cp:revision>
  <dcterms:created xsi:type="dcterms:W3CDTF">2020-11-06T08:03:53Z</dcterms:created>
  <dcterms:modified xsi:type="dcterms:W3CDTF">2022-10-03T21:56:09Z</dcterms:modified>
</cp:coreProperties>
</file>